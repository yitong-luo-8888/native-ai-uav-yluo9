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95147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[0:00-0:20] Hi, I'm Yitong. A search drone finds things before it finds people: a cap, a backpack, a doll. My HW7 pipeline decides what each object means for this search, and my HW6 planner decides whether anything actually flies. In one line: the model proposes,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[0:20-1:05] Stage 1, detection, is given. Then three Claude stages, each with its own schema. Describe sees only the pixels, never who is missing, so it can't see what it is hoping to find. Relevance compares that description with the person, text only. Decide picks one action from a fixed menu: ignore, log only, inspect closer, or converge. Because Relevance and Decide only see text, every mistake can be traced to one stage. The model never writes a coordinate: my code sets the search centre to the candidate's position and allows at most one closer look. Then the same HW6 validator that checks the operator checks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[1:05-1:35] My test set is Ethan, eight, near the north gate. I wrote his description first: navy cap with a grey front, green tee, orange backpack with a dinosaur patch. Two of his things, four decoys. The near miss is a navy beanie: right colour, wrong kind of hat. The shoe is adult size, the doll is a child's toy but not his, and the ball is tempting at a stadium. check_set.py reports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[1:35-2:10] Offline, with evaluate.py: fifteen out of fifteen on Lily's set over three repeats, six out of six on mine, and 93 percent agreement across repeats. The one disagreement was Lily's shoe, log only twice and ignore once, both acceptable. About two cents and three Claude calls per clue. But these renders are sharp, and the GUI camera in flight is not. That is where it broke.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[2:10-3:00] In flight, Ethan's cap is this blur on the left. The cap came out log only, so his cap was filed away. I traced it stage by stage. Describe was honest: a blurry blue object with a grey oval, low confidence, needs a closer look. Relevance was the first wrong stage: its schema made it fill in one candidate item first, it committed to the denim shorts, and said low, while its own rationale mentioned the cap. The fix: list every possible item before choosing, and a rule that an unclear object whose colour, size and outline fit is medium. Now it goes inspect closer, the drone hovers, and the zoomed look comes back high, then converge. I re-ran both test sets afterwards: still 100 percent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[3:00-3:50] Here is the whole system live in new-gui, recorded this morning with one command, run_demo.sh. The detector reported the cap, my pipeline proposed inspect closer, my validator approved it, and Fuchsia is hovering over the cap; you can see it in the camera pane. When the cap was reported again, the validator refused: the UAV was busy and that spot was already covered. Across my full runs, the backpack also got a hover, the decoys flew nothing, and two converges at 26 percent battery were refused on the reserve, the same rule that refuses an operator. Coordinates, feasibility, a second look: never left to the model.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430"/>
        </a:solidFill>
        <a:effectLst/>
      </p:bgPr>
    </p:bg>
    <p:spTree>
      <p:nvGrpSpPr>
        <p:cNvPr id="1" name=""/>
        <p:cNvGrpSpPr/>
        <p:nvPr/>
      </p:nvGrpSpPr>
      <p:grpSpPr>
        <a:xfrm>
          <a:off x="0" y="0"/>
          <a:ext cx="0" cy="0"/>
          <a:chOff x="0" y="0"/>
          <a:chExt cx="0" cy="0"/>
        </a:xfrm>
      </p:grpSpPr>
      <p:sp>
        <p:nvSpPr>
          <p:cNvPr id="2" name="Text 0"/>
          <p:cNvSpPr/>
          <p:nvPr/>
        </p:nvSpPr>
        <p:spPr>
          <a:xfrm>
            <a:off x="457200" y="4754880"/>
            <a:ext cx="3657600" cy="274320"/>
          </a:xfrm>
          <a:prstGeom prst="rect">
            <a:avLst/>
          </a:prstGeom>
          <a:noFill/>
          <a:ln/>
        </p:spPr>
        <p:txBody>
          <a:bodyPr wrap="square" rtlCol="0" anchor="ctr"/>
          <a:lstStyle/>
          <a:p>
            <a:pPr marL="0" indent="0">
              <a:buNone/>
            </a:pPr>
            <a:r>
              <a:rPr lang="en-US" sz="1000" dirty="0">
                <a:solidFill>
                  <a:srgbClr val="8FA0B2"/>
                </a:solidFill>
                <a:latin typeface="Calibri" pitchFamily="34" charset="0"/>
                <a:ea typeface="Calibri" pitchFamily="34" charset="-122"/>
                <a:cs typeface="Calibri" pitchFamily="34" charset="-120"/>
              </a:rPr>
              <a:t>HW7 · Yitong Luo</a:t>
            </a:r>
            <a:endParaRPr lang="en-US" sz="1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A0B2"/>
                </a:solidFill>
                <a:latin typeface="Calibri"/>
                <a:ea typeface="Calibri"/>
                <a:cs typeface="Calibri"/>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754880"/>
            <a:ext cx="3657600" cy="274320"/>
          </a:xfrm>
          <a:prstGeom prst="rect">
            <a:avLst/>
          </a:prstGeom>
          <a:noFill/>
          <a:ln/>
        </p:spPr>
        <p:txBody>
          <a:bodyPr wrap="square" rtlCol="0" anchor="ctr"/>
          <a:lstStyle/>
          <a:p>
            <a:pPr marL="0" indent="0">
              <a:buNone/>
            </a:pPr>
            <a:r>
              <a:rPr lang="en-US" sz="1000" dirty="0">
                <a:solidFill>
                  <a:srgbClr val="6B7A89"/>
                </a:solidFill>
                <a:latin typeface="Calibri" pitchFamily="34" charset="0"/>
                <a:ea typeface="Calibri" pitchFamily="34" charset="-122"/>
                <a:cs typeface="Calibri" pitchFamily="34" charset="-120"/>
              </a:rPr>
              <a:t>HW7 · Yitong Luo</a:t>
            </a:r>
            <a:endParaRPr lang="en-US" sz="1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A89"/>
                </a:solidFill>
                <a:latin typeface="Calibri"/>
                <a:ea typeface="Calibri"/>
                <a:cs typeface="Calibri"/>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A0B2"/>
                </a:solidFill>
                <a:latin typeface="Calibri"/>
                <a:ea typeface="Calibri"/>
                <a:cs typeface="Calibr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822960"/>
            <a:ext cx="5486400" cy="320040"/>
          </a:xfrm>
          <a:prstGeom prst="rect">
            <a:avLst/>
          </a:prstGeom>
          <a:noFill/>
          <a:ln/>
        </p:spPr>
        <p:txBody>
          <a:bodyPr wrap="square" lIns="0" tIns="0" rIns="0" bIns="0" rtlCol="0" anchor="t"/>
          <a:lstStyle/>
          <a:p>
            <a:pPr marL="0" indent="0">
              <a:buNone/>
            </a:pPr>
            <a:r>
              <a:rPr lang="en-US" sz="1400" b="1" dirty="0">
                <a:solidFill>
                  <a:srgbClr val="F26B1D"/>
                </a:solidFill>
                <a:latin typeface="Calibri" pitchFamily="34" charset="0"/>
                <a:ea typeface="Calibri" pitchFamily="34" charset="-122"/>
                <a:cs typeface="Calibri" pitchFamily="34" charset="-120"/>
              </a:rPr>
              <a:t>HW7 · LLM clue-reasoning pipeline</a:t>
            </a:r>
            <a:endParaRPr lang="en-US" sz="1400" dirty="0"/>
          </a:p>
        </p:txBody>
      </p:sp>
      <p:sp>
        <p:nvSpPr>
          <p:cNvPr id="3" name="Text 1"/>
          <p:cNvSpPr txBox="1"/>
          <p:nvPr/>
        </p:nvSpPr>
        <p:spPr>
          <a:xfrm>
            <a:off x="457200" y="1234440"/>
            <a:ext cx="5486400" cy="155448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The model proposes.</a:t>
            </a:r>
            <a:endParaRPr lang="en-US" sz="4000" dirty="0"/>
          </a:p>
          <a:p>
            <a:pPr marL="0" indent="0">
              <a:buNone/>
            </a:pPr>
            <a:r>
              <a:rPr lang="en-US" sz="4000" b="1" dirty="0">
                <a:solidFill>
                  <a:srgbClr val="FFFFFF"/>
                </a:solidFill>
                <a:latin typeface="Cambria" pitchFamily="34" charset="0"/>
                <a:ea typeface="Cambria" pitchFamily="34" charset="-122"/>
                <a:cs typeface="Cambria" pitchFamily="34" charset="-120"/>
              </a:rPr>
              <a:t>Code decides.</a:t>
            </a:r>
            <a:endParaRPr lang="en-US" sz="4000" dirty="0"/>
          </a:p>
        </p:txBody>
      </p:sp>
      <p:sp>
        <p:nvSpPr>
          <p:cNvPr id="4" name="Text 2"/>
          <p:cNvSpPr txBox="1"/>
          <p:nvPr/>
        </p:nvSpPr>
        <p:spPr>
          <a:xfrm>
            <a:off x="457200" y="2926080"/>
            <a:ext cx="5120640" cy="914400"/>
          </a:xfrm>
          <a:prstGeom prst="rect">
            <a:avLst/>
          </a:prstGeom>
          <a:noFill/>
          <a:ln/>
        </p:spPr>
        <p:txBody>
          <a:bodyPr wrap="square" lIns="0" tIns="0" rIns="0" bIns="0" rtlCol="0" anchor="t"/>
          <a:lstStyle/>
          <a:p>
            <a:pPr marL="0" indent="0">
              <a:buNone/>
            </a:pPr>
            <a:r>
              <a:rPr lang="en-US" sz="1500" dirty="0">
                <a:solidFill>
                  <a:srgbClr val="C9D3DD"/>
                </a:solidFill>
                <a:latin typeface="Calibri" pitchFamily="34" charset="0"/>
                <a:ea typeface="Calibri" pitchFamily="34" charset="-122"/>
                <a:cs typeface="Calibri" pitchFamily="34" charset="-120"/>
              </a:rPr>
              <a:t>A search drone finds a cap, a backpack, a doll. Three Claude stages decide what each one means for this search. My HW6 validator decides whether anything flies.</a:t>
            </a:r>
            <a:endParaRPr lang="en-US" sz="1500" dirty="0"/>
          </a:p>
        </p:txBody>
      </p:sp>
      <p:sp>
        <p:nvSpPr>
          <p:cNvPr id="5" name="Shape 3"/>
          <p:cNvSpPr/>
          <p:nvPr/>
        </p:nvSpPr>
        <p:spPr>
          <a:xfrm>
            <a:off x="5989320" y="777240"/>
            <a:ext cx="2743200" cy="2743200"/>
          </a:xfrm>
          <a:prstGeom prst="ellipse">
            <a:avLst/>
          </a:prstGeom>
          <a:solidFill>
            <a:srgbClr val="2E3A48"/>
          </a:solidFill>
          <a:ln w="25400">
            <a:solidFill>
              <a:srgbClr val="F26B1D"/>
            </a:solidFill>
            <a:prstDash val="solid"/>
          </a:ln>
        </p:spPr>
      </p:sp>
      <p:pic>
        <p:nvPicPr>
          <p:cNvPr id="6" name="Image 0" descr="C:\Users\Yitong\AppData\Local\Temp\claude\--wsl-localhost-Ubuntu-home-yitong-uav-native-ai\5626ac00-b96f-4523-b66d-3cae6d4f4d7e\scratchpad\deck\ethan.png"/>
          <p:cNvPicPr>
            <a:picLocks noChangeAspect="1"/>
          </p:cNvPicPr>
          <p:nvPr/>
        </p:nvPicPr>
        <p:blipFill>
          <a:blip r:embed="rId3"/>
          <a:srcRect/>
          <a:stretch/>
        </p:blipFill>
        <p:spPr>
          <a:xfrm>
            <a:off x="6355080" y="1051560"/>
            <a:ext cx="2011680" cy="2194560"/>
          </a:xfrm>
          <a:prstGeom prst="rect">
            <a:avLst/>
          </a:prstGeom>
        </p:spPr>
      </p:pic>
      <p:sp>
        <p:nvSpPr>
          <p:cNvPr id="7" name="Text 4"/>
          <p:cNvSpPr txBox="1"/>
          <p:nvPr/>
        </p:nvSpPr>
        <p:spPr>
          <a:xfrm>
            <a:off x="5989320" y="3611880"/>
            <a:ext cx="2743200" cy="320040"/>
          </a:xfrm>
          <a:prstGeom prst="rect">
            <a:avLst/>
          </a:prstGeom>
          <a:noFill/>
          <a:ln/>
        </p:spPr>
        <p:txBody>
          <a:bodyPr wrap="square" lIns="0" tIns="0" rIns="0" bIns="0" rtlCol="0" anchor="t"/>
          <a:lstStyle/>
          <a:p>
            <a:pPr marL="0" indent="0" algn="ctr">
              <a:buNone/>
            </a:pPr>
            <a:r>
              <a:rPr lang="en-US" sz="1300" dirty="0">
                <a:solidFill>
                  <a:srgbClr val="C9D3DD"/>
                </a:solidFill>
                <a:latin typeface="Calibri" pitchFamily="34" charset="0"/>
                <a:ea typeface="Calibri" pitchFamily="34" charset="-122"/>
                <a:cs typeface="Calibri" pitchFamily="34" charset="-120"/>
              </a:rPr>
              <a:t>Missing: Ethan, 8</a:t>
            </a:r>
            <a:endParaRPr lang="en-US" sz="13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A0B2"/>
                </a:solidFill>
                <a:latin typeface="Calibri"/>
                <a:ea typeface="Calibri"/>
                <a:cs typeface="Calibri"/>
              </a:defRPr>
            </a:lvl1pPr>
          </a:lstStyle>
          <a:p>
            <a:pPr algn="l"/>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1B2430"/>
                </a:solidFill>
                <a:latin typeface="Cambria" pitchFamily="34" charset="0"/>
                <a:ea typeface="Cambria" pitchFamily="34" charset="-122"/>
                <a:cs typeface="Cambria" pitchFamily="34" charset="-120"/>
              </a:rPr>
              <a:t>Three stages, then the fence</a:t>
            </a:r>
            <a:endParaRPr lang="en-US" sz="2800" dirty="0"/>
          </a:p>
        </p:txBody>
      </p:sp>
      <p:sp>
        <p:nvSpPr>
          <p:cNvPr id="3" name="Shape 1"/>
          <p:cNvSpPr/>
          <p:nvPr/>
        </p:nvSpPr>
        <p:spPr>
          <a:xfrm>
            <a:off x="457200" y="1234440"/>
            <a:ext cx="1298448" cy="1417320"/>
          </a:xfrm>
          <a:prstGeom prst="roundRect">
            <a:avLst>
              <a:gd name="adj" fmla="val 5634"/>
            </a:avLst>
          </a:prstGeom>
          <a:solidFill>
            <a:srgbClr val="2E3A48"/>
          </a:solidFill>
          <a:ln w="12700">
            <a:solidFill>
              <a:srgbClr val="2E3A48"/>
            </a:solidFill>
            <a:prstDash val="solid"/>
          </a:ln>
          <a:effectLst>
            <a:outerShdw blurRad="50800" dist="19050" dir="5400000" algn="bl" rotWithShape="0">
              <a:srgbClr val="000000">
                <a:alpha val="12000"/>
              </a:srgbClr>
            </a:outerShdw>
          </a:effectLst>
        </p:spPr>
      </p:sp>
      <p:sp>
        <p:nvSpPr>
          <p:cNvPr id="4" name="Text 2"/>
          <p:cNvSpPr txBox="1"/>
          <p:nvPr/>
        </p:nvSpPr>
        <p:spPr>
          <a:xfrm>
            <a:off x="548640" y="1371600"/>
            <a:ext cx="1115568" cy="365760"/>
          </a:xfrm>
          <a:prstGeom prst="rect">
            <a:avLst/>
          </a:prstGeom>
          <a:noFill/>
          <a:ln/>
        </p:spPr>
        <p:txBody>
          <a:bodyPr wrap="square" lIns="0" tIns="0" rIns="0" bIns="0" rtlCol="0" anchor="t"/>
          <a:lstStyle/>
          <a:p>
            <a:pPr marL="0" indent="0" algn="ctr">
              <a:buNone/>
            </a:pPr>
            <a:r>
              <a:rPr lang="en-US" sz="1500" b="1" dirty="0">
                <a:solidFill>
                  <a:srgbClr val="FFFFFF"/>
                </a:solidFill>
                <a:latin typeface="Calibri" pitchFamily="34" charset="0"/>
                <a:ea typeface="Calibri" pitchFamily="34" charset="-122"/>
                <a:cs typeface="Calibri" pitchFamily="34" charset="-120"/>
              </a:rPr>
              <a:t>Detect</a:t>
            </a:r>
            <a:endParaRPr lang="en-US" sz="1500" dirty="0"/>
          </a:p>
        </p:txBody>
      </p:sp>
      <p:sp>
        <p:nvSpPr>
          <p:cNvPr id="5" name="Text 3"/>
          <p:cNvSpPr txBox="1"/>
          <p:nvPr/>
        </p:nvSpPr>
        <p:spPr>
          <a:xfrm>
            <a:off x="530352" y="1828800"/>
            <a:ext cx="1152144" cy="73152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detector.py --oracle</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from GUI camera frames</a:t>
            </a:r>
            <a:endParaRPr lang="en-US" sz="1100" dirty="0"/>
          </a:p>
        </p:txBody>
      </p:sp>
      <p:sp>
        <p:nvSpPr>
          <p:cNvPr id="6" name="Shape 4"/>
          <p:cNvSpPr/>
          <p:nvPr/>
        </p:nvSpPr>
        <p:spPr>
          <a:xfrm>
            <a:off x="1755648" y="1947672"/>
            <a:ext cx="91440" cy="0"/>
          </a:xfrm>
          <a:prstGeom prst="line">
            <a:avLst/>
          </a:prstGeom>
          <a:noFill/>
          <a:ln w="19050">
            <a:solidFill>
              <a:srgbClr val="6B7A89"/>
            </a:solidFill>
            <a:prstDash val="solid"/>
            <a:tailEnd type="triangle"/>
          </a:ln>
        </p:spPr>
      </p:sp>
      <p:sp>
        <p:nvSpPr>
          <p:cNvPr id="7" name="Shape 5"/>
          <p:cNvSpPr/>
          <p:nvPr/>
        </p:nvSpPr>
        <p:spPr>
          <a:xfrm>
            <a:off x="1847088" y="1234440"/>
            <a:ext cx="1298448" cy="1417320"/>
          </a:xfrm>
          <a:prstGeom prst="roundRect">
            <a:avLst>
              <a:gd name="adj" fmla="val 5634"/>
            </a:avLst>
          </a:prstGeom>
          <a:solidFill>
            <a:srgbClr val="F26B1D"/>
          </a:solidFill>
          <a:ln w="12700">
            <a:solidFill>
              <a:srgbClr val="F26B1D"/>
            </a:solidFill>
            <a:prstDash val="solid"/>
          </a:ln>
          <a:effectLst>
            <a:outerShdw blurRad="50800" dist="19050" dir="5400000" algn="bl" rotWithShape="0">
              <a:srgbClr val="000000">
                <a:alpha val="12000"/>
              </a:srgbClr>
            </a:outerShdw>
          </a:effectLst>
        </p:spPr>
      </p:sp>
      <p:sp>
        <p:nvSpPr>
          <p:cNvPr id="8" name="Text 6"/>
          <p:cNvSpPr txBox="1"/>
          <p:nvPr/>
        </p:nvSpPr>
        <p:spPr>
          <a:xfrm>
            <a:off x="1938528" y="1371600"/>
            <a:ext cx="1115568" cy="365760"/>
          </a:xfrm>
          <a:prstGeom prst="rect">
            <a:avLst/>
          </a:prstGeom>
          <a:noFill/>
          <a:ln/>
        </p:spPr>
        <p:txBody>
          <a:bodyPr wrap="square" lIns="0" tIns="0" rIns="0" bIns="0" rtlCol="0" anchor="t"/>
          <a:lstStyle/>
          <a:p>
            <a:pPr marL="0" indent="0" algn="ctr">
              <a:buNone/>
            </a:pPr>
            <a:r>
              <a:rPr lang="en-US" sz="1500" b="1" dirty="0">
                <a:solidFill>
                  <a:srgbClr val="FFFFFF"/>
                </a:solidFill>
                <a:latin typeface="Calibri" pitchFamily="34" charset="0"/>
                <a:ea typeface="Calibri" pitchFamily="34" charset="-122"/>
                <a:cs typeface="Calibri" pitchFamily="34" charset="-120"/>
              </a:rPr>
              <a:t>Describe</a:t>
            </a:r>
            <a:endParaRPr lang="en-US" sz="1500" dirty="0"/>
          </a:p>
        </p:txBody>
      </p:sp>
      <p:sp>
        <p:nvSpPr>
          <p:cNvPr id="9" name="Text 7"/>
          <p:cNvSpPr txBox="1"/>
          <p:nvPr/>
        </p:nvSpPr>
        <p:spPr>
          <a:xfrm>
            <a:off x="1920240" y="1828800"/>
            <a:ext cx="1152144" cy="73152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sees only the pixels</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never who is missing</a:t>
            </a:r>
            <a:endParaRPr lang="en-US" sz="1100" dirty="0"/>
          </a:p>
        </p:txBody>
      </p:sp>
      <p:sp>
        <p:nvSpPr>
          <p:cNvPr id="10" name="Shape 8"/>
          <p:cNvSpPr/>
          <p:nvPr/>
        </p:nvSpPr>
        <p:spPr>
          <a:xfrm>
            <a:off x="3145536" y="1947672"/>
            <a:ext cx="91440" cy="0"/>
          </a:xfrm>
          <a:prstGeom prst="line">
            <a:avLst/>
          </a:prstGeom>
          <a:noFill/>
          <a:ln w="19050">
            <a:solidFill>
              <a:srgbClr val="6B7A89"/>
            </a:solidFill>
            <a:prstDash val="solid"/>
            <a:tailEnd type="triangle"/>
          </a:ln>
        </p:spPr>
      </p:sp>
      <p:sp>
        <p:nvSpPr>
          <p:cNvPr id="11" name="Shape 9"/>
          <p:cNvSpPr/>
          <p:nvPr/>
        </p:nvSpPr>
        <p:spPr>
          <a:xfrm>
            <a:off x="3236976" y="1234440"/>
            <a:ext cx="1298448" cy="1417320"/>
          </a:xfrm>
          <a:prstGeom prst="roundRect">
            <a:avLst>
              <a:gd name="adj" fmla="val 5634"/>
            </a:avLst>
          </a:prstGeom>
          <a:solidFill>
            <a:srgbClr val="F26B1D"/>
          </a:solidFill>
          <a:ln w="12700">
            <a:solidFill>
              <a:srgbClr val="F26B1D"/>
            </a:solidFill>
            <a:prstDash val="solid"/>
          </a:ln>
          <a:effectLst>
            <a:outerShdw blurRad="50800" dist="19050" dir="5400000" algn="bl" rotWithShape="0">
              <a:srgbClr val="000000">
                <a:alpha val="12000"/>
              </a:srgbClr>
            </a:outerShdw>
          </a:effectLst>
        </p:spPr>
      </p:sp>
      <p:sp>
        <p:nvSpPr>
          <p:cNvPr id="12" name="Text 10"/>
          <p:cNvSpPr txBox="1"/>
          <p:nvPr/>
        </p:nvSpPr>
        <p:spPr>
          <a:xfrm>
            <a:off x="3328416" y="1371600"/>
            <a:ext cx="1115568" cy="365760"/>
          </a:xfrm>
          <a:prstGeom prst="rect">
            <a:avLst/>
          </a:prstGeom>
          <a:noFill/>
          <a:ln/>
        </p:spPr>
        <p:txBody>
          <a:bodyPr wrap="square" lIns="0" tIns="0" rIns="0" bIns="0" rtlCol="0" anchor="t"/>
          <a:lstStyle/>
          <a:p>
            <a:pPr marL="0" indent="0" algn="ctr">
              <a:buNone/>
            </a:pPr>
            <a:r>
              <a:rPr lang="en-US" sz="1500" b="1" dirty="0">
                <a:solidFill>
                  <a:srgbClr val="FFFFFF"/>
                </a:solidFill>
                <a:latin typeface="Calibri" pitchFamily="34" charset="0"/>
                <a:ea typeface="Calibri" pitchFamily="34" charset="-122"/>
                <a:cs typeface="Calibri" pitchFamily="34" charset="-120"/>
              </a:rPr>
              <a:t>Relevance</a:t>
            </a:r>
            <a:endParaRPr lang="en-US" sz="1500" dirty="0"/>
          </a:p>
        </p:txBody>
      </p:sp>
      <p:sp>
        <p:nvSpPr>
          <p:cNvPr id="13" name="Text 11"/>
          <p:cNvSpPr txBox="1"/>
          <p:nvPr/>
        </p:nvSpPr>
        <p:spPr>
          <a:xfrm>
            <a:off x="3310128" y="1828800"/>
            <a:ext cx="1152144" cy="73152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text only: person vs.</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the description</a:t>
            </a:r>
            <a:endParaRPr lang="en-US" sz="1100" dirty="0"/>
          </a:p>
        </p:txBody>
      </p:sp>
      <p:sp>
        <p:nvSpPr>
          <p:cNvPr id="14" name="Shape 12"/>
          <p:cNvSpPr/>
          <p:nvPr/>
        </p:nvSpPr>
        <p:spPr>
          <a:xfrm>
            <a:off x="4535424" y="1947672"/>
            <a:ext cx="91440" cy="0"/>
          </a:xfrm>
          <a:prstGeom prst="line">
            <a:avLst/>
          </a:prstGeom>
          <a:noFill/>
          <a:ln w="19050">
            <a:solidFill>
              <a:srgbClr val="6B7A89"/>
            </a:solidFill>
            <a:prstDash val="solid"/>
            <a:tailEnd type="triangle"/>
          </a:ln>
        </p:spPr>
      </p:sp>
      <p:sp>
        <p:nvSpPr>
          <p:cNvPr id="15" name="Shape 13"/>
          <p:cNvSpPr/>
          <p:nvPr/>
        </p:nvSpPr>
        <p:spPr>
          <a:xfrm>
            <a:off x="4626864" y="1234440"/>
            <a:ext cx="1298448" cy="1417320"/>
          </a:xfrm>
          <a:prstGeom prst="roundRect">
            <a:avLst>
              <a:gd name="adj" fmla="val 5634"/>
            </a:avLst>
          </a:prstGeom>
          <a:solidFill>
            <a:srgbClr val="F26B1D"/>
          </a:solidFill>
          <a:ln w="12700">
            <a:solidFill>
              <a:srgbClr val="F26B1D"/>
            </a:solidFill>
            <a:prstDash val="solid"/>
          </a:ln>
          <a:effectLst>
            <a:outerShdw blurRad="50800" dist="19050" dir="5400000" algn="bl" rotWithShape="0">
              <a:srgbClr val="000000">
                <a:alpha val="12000"/>
              </a:srgbClr>
            </a:outerShdw>
          </a:effectLst>
        </p:spPr>
      </p:sp>
      <p:sp>
        <p:nvSpPr>
          <p:cNvPr id="16" name="Text 14"/>
          <p:cNvSpPr txBox="1"/>
          <p:nvPr/>
        </p:nvSpPr>
        <p:spPr>
          <a:xfrm>
            <a:off x="4718304" y="1371600"/>
            <a:ext cx="1115568" cy="365760"/>
          </a:xfrm>
          <a:prstGeom prst="rect">
            <a:avLst/>
          </a:prstGeom>
          <a:noFill/>
          <a:ln/>
        </p:spPr>
        <p:txBody>
          <a:bodyPr wrap="square" lIns="0" tIns="0" rIns="0" bIns="0" rtlCol="0" anchor="t"/>
          <a:lstStyle/>
          <a:p>
            <a:pPr marL="0" indent="0" algn="ctr">
              <a:buNone/>
            </a:pPr>
            <a:r>
              <a:rPr lang="en-US" sz="1500" b="1" dirty="0">
                <a:solidFill>
                  <a:srgbClr val="FFFFFF"/>
                </a:solidFill>
                <a:latin typeface="Calibri" pitchFamily="34" charset="0"/>
                <a:ea typeface="Calibri" pitchFamily="34" charset="-122"/>
                <a:cs typeface="Calibri" pitchFamily="34" charset="-120"/>
              </a:rPr>
              <a:t>Decide</a:t>
            </a:r>
            <a:endParaRPr lang="en-US" sz="1500" dirty="0"/>
          </a:p>
        </p:txBody>
      </p:sp>
      <p:sp>
        <p:nvSpPr>
          <p:cNvPr id="17" name="Text 15"/>
          <p:cNvSpPr txBox="1"/>
          <p:nvPr/>
        </p:nvSpPr>
        <p:spPr>
          <a:xfrm>
            <a:off x="4700016" y="1828800"/>
            <a:ext cx="1152144" cy="73152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one action from</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the fixed menu</a:t>
            </a:r>
            <a:endParaRPr lang="en-US" sz="1100" dirty="0"/>
          </a:p>
        </p:txBody>
      </p:sp>
      <p:sp>
        <p:nvSpPr>
          <p:cNvPr id="18" name="Shape 16"/>
          <p:cNvSpPr/>
          <p:nvPr/>
        </p:nvSpPr>
        <p:spPr>
          <a:xfrm>
            <a:off x="5925312" y="1947672"/>
            <a:ext cx="91440" cy="0"/>
          </a:xfrm>
          <a:prstGeom prst="line">
            <a:avLst/>
          </a:prstGeom>
          <a:noFill/>
          <a:ln w="19050">
            <a:solidFill>
              <a:srgbClr val="6B7A89"/>
            </a:solidFill>
            <a:prstDash val="solid"/>
            <a:tailEnd type="triangle"/>
          </a:ln>
        </p:spPr>
      </p:sp>
      <p:sp>
        <p:nvSpPr>
          <p:cNvPr id="19" name="Shape 17"/>
          <p:cNvSpPr/>
          <p:nvPr/>
        </p:nvSpPr>
        <p:spPr>
          <a:xfrm>
            <a:off x="6016752" y="1234440"/>
            <a:ext cx="1298448" cy="1417320"/>
          </a:xfrm>
          <a:prstGeom prst="roundRect">
            <a:avLst>
              <a:gd name="adj" fmla="val 5634"/>
            </a:avLst>
          </a:prstGeom>
          <a:solidFill>
            <a:srgbClr val="2E3A48"/>
          </a:solidFill>
          <a:ln w="12700">
            <a:solidFill>
              <a:srgbClr val="2E3A48"/>
            </a:solidFill>
            <a:prstDash val="solid"/>
          </a:ln>
          <a:effectLst>
            <a:outerShdw blurRad="50800" dist="19050" dir="5400000" algn="bl" rotWithShape="0">
              <a:srgbClr val="000000">
                <a:alpha val="12000"/>
              </a:srgbClr>
            </a:outerShdw>
          </a:effectLst>
        </p:spPr>
      </p:sp>
      <p:sp>
        <p:nvSpPr>
          <p:cNvPr id="20" name="Text 18"/>
          <p:cNvSpPr txBox="1"/>
          <p:nvPr/>
        </p:nvSpPr>
        <p:spPr>
          <a:xfrm>
            <a:off x="6108192" y="1371600"/>
            <a:ext cx="1115568" cy="365760"/>
          </a:xfrm>
          <a:prstGeom prst="rect">
            <a:avLst/>
          </a:prstGeom>
          <a:noFill/>
          <a:ln/>
        </p:spPr>
        <p:txBody>
          <a:bodyPr wrap="square" lIns="0" tIns="0" rIns="0" bIns="0" rtlCol="0" anchor="t"/>
          <a:lstStyle/>
          <a:p>
            <a:pPr marL="0" indent="0" algn="ctr">
              <a:buNone/>
            </a:pPr>
            <a:r>
              <a:rPr lang="en-US" sz="1500" b="1" dirty="0">
                <a:solidFill>
                  <a:srgbClr val="FFFFFF"/>
                </a:solidFill>
                <a:latin typeface="Calibri" pitchFamily="34" charset="0"/>
                <a:ea typeface="Calibri" pitchFamily="34" charset="-122"/>
                <a:cs typeface="Calibri" pitchFamily="34" charset="-120"/>
              </a:rPr>
              <a:t>Code guard</a:t>
            </a:r>
            <a:endParaRPr lang="en-US" sz="1500" dirty="0"/>
          </a:p>
        </p:txBody>
      </p:sp>
      <p:sp>
        <p:nvSpPr>
          <p:cNvPr id="21" name="Text 19"/>
          <p:cNvSpPr txBox="1"/>
          <p:nvPr/>
        </p:nvSpPr>
        <p:spPr>
          <a:xfrm>
            <a:off x="6089904" y="1828800"/>
            <a:ext cx="1152144" cy="73152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centre = candidate</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position, 1 closer look</a:t>
            </a:r>
            <a:endParaRPr lang="en-US" sz="1100" dirty="0"/>
          </a:p>
        </p:txBody>
      </p:sp>
      <p:sp>
        <p:nvSpPr>
          <p:cNvPr id="22" name="Shape 20"/>
          <p:cNvSpPr/>
          <p:nvPr/>
        </p:nvSpPr>
        <p:spPr>
          <a:xfrm>
            <a:off x="7315200" y="1947672"/>
            <a:ext cx="91440" cy="0"/>
          </a:xfrm>
          <a:prstGeom prst="line">
            <a:avLst/>
          </a:prstGeom>
          <a:noFill/>
          <a:ln w="19050">
            <a:solidFill>
              <a:srgbClr val="6B7A89"/>
            </a:solidFill>
            <a:prstDash val="solid"/>
            <a:tailEnd type="triangle"/>
          </a:ln>
        </p:spPr>
      </p:sp>
      <p:sp>
        <p:nvSpPr>
          <p:cNvPr id="23" name="Shape 21"/>
          <p:cNvSpPr/>
          <p:nvPr/>
        </p:nvSpPr>
        <p:spPr>
          <a:xfrm>
            <a:off x="7406640" y="1234440"/>
            <a:ext cx="1298448" cy="1417320"/>
          </a:xfrm>
          <a:prstGeom prst="roundRect">
            <a:avLst>
              <a:gd name="adj" fmla="val 5634"/>
            </a:avLst>
          </a:prstGeom>
          <a:solidFill>
            <a:srgbClr val="1F8A7E"/>
          </a:solidFill>
          <a:ln w="12700">
            <a:solidFill>
              <a:srgbClr val="1F8A7E"/>
            </a:solidFill>
            <a:prstDash val="solid"/>
          </a:ln>
          <a:effectLst>
            <a:outerShdw blurRad="50800" dist="19050" dir="5400000" algn="bl" rotWithShape="0">
              <a:srgbClr val="000000">
                <a:alpha val="12000"/>
              </a:srgbClr>
            </a:outerShdw>
          </a:effectLst>
        </p:spPr>
      </p:sp>
      <p:sp>
        <p:nvSpPr>
          <p:cNvPr id="24" name="Text 22"/>
          <p:cNvSpPr txBox="1"/>
          <p:nvPr/>
        </p:nvSpPr>
        <p:spPr>
          <a:xfrm>
            <a:off x="7498080" y="1371600"/>
            <a:ext cx="1115568" cy="365760"/>
          </a:xfrm>
          <a:prstGeom prst="rect">
            <a:avLst/>
          </a:prstGeom>
          <a:noFill/>
          <a:ln/>
        </p:spPr>
        <p:txBody>
          <a:bodyPr wrap="square" lIns="0" tIns="0" rIns="0" bIns="0" rtlCol="0" anchor="t"/>
          <a:lstStyle/>
          <a:p>
            <a:pPr marL="0" indent="0" algn="ctr">
              <a:buNone/>
            </a:pPr>
            <a:r>
              <a:rPr lang="en-US" sz="1500" b="1" dirty="0">
                <a:solidFill>
                  <a:srgbClr val="FFFFFF"/>
                </a:solidFill>
                <a:latin typeface="Calibri" pitchFamily="34" charset="0"/>
                <a:ea typeface="Calibri" pitchFamily="34" charset="-122"/>
                <a:cs typeface="Calibri" pitchFamily="34" charset="-120"/>
              </a:rPr>
              <a:t>Validator</a:t>
            </a:r>
            <a:endParaRPr lang="en-US" sz="1500" dirty="0"/>
          </a:p>
        </p:txBody>
      </p:sp>
      <p:sp>
        <p:nvSpPr>
          <p:cNvPr id="25" name="Text 23"/>
          <p:cNvSpPr txBox="1"/>
          <p:nvPr/>
        </p:nvSpPr>
        <p:spPr>
          <a:xfrm>
            <a:off x="7479792" y="1828800"/>
            <a:ext cx="1152144" cy="73152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battery, busy UAV,</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same spot, radius clamp</a:t>
            </a:r>
            <a:endParaRPr lang="en-US" sz="1100" dirty="0"/>
          </a:p>
        </p:txBody>
      </p:sp>
      <p:sp>
        <p:nvSpPr>
          <p:cNvPr id="26" name="Text 24"/>
          <p:cNvSpPr txBox="1"/>
          <p:nvPr/>
        </p:nvSpPr>
        <p:spPr>
          <a:xfrm>
            <a:off x="1847088" y="2743200"/>
            <a:ext cx="3931920" cy="274320"/>
          </a:xfrm>
          <a:prstGeom prst="rect">
            <a:avLst/>
          </a:prstGeom>
          <a:noFill/>
          <a:ln/>
        </p:spPr>
        <p:txBody>
          <a:bodyPr wrap="square" lIns="0" tIns="0" rIns="0" bIns="0" rtlCol="0" anchor="t"/>
          <a:lstStyle/>
          <a:p>
            <a:pPr marL="0" indent="0" algn="ctr">
              <a:buNone/>
            </a:pPr>
            <a:r>
              <a:rPr lang="en-US" sz="1100" b="1" dirty="0">
                <a:solidFill>
                  <a:srgbClr val="F26B1D"/>
                </a:solidFill>
                <a:latin typeface="Calibri" pitchFamily="34" charset="0"/>
                <a:ea typeface="Calibri" pitchFamily="34" charset="-122"/>
                <a:cs typeface="Calibri" pitchFamily="34" charset="-120"/>
              </a:rPr>
              <a:t>Claude (claude-sonnet-5-5), structured output, my schemas</a:t>
            </a:r>
            <a:endParaRPr lang="en-US" sz="1100" dirty="0"/>
          </a:p>
        </p:txBody>
      </p:sp>
      <p:sp>
        <p:nvSpPr>
          <p:cNvPr id="27" name="Text 25"/>
          <p:cNvSpPr txBox="1"/>
          <p:nvPr/>
        </p:nvSpPr>
        <p:spPr>
          <a:xfrm>
            <a:off x="5815584" y="2743200"/>
            <a:ext cx="2688336" cy="274320"/>
          </a:xfrm>
          <a:prstGeom prst="rect">
            <a:avLst/>
          </a:prstGeom>
          <a:noFill/>
          <a:ln/>
        </p:spPr>
        <p:txBody>
          <a:bodyPr wrap="square" lIns="0" tIns="0" rIns="0" bIns="0" rtlCol="0" anchor="t"/>
          <a:lstStyle/>
          <a:p>
            <a:pPr marL="0" indent="0" algn="ctr">
              <a:buNone/>
            </a:pPr>
            <a:r>
              <a:rPr lang="en-US" sz="1100" b="1" dirty="0">
                <a:solidFill>
                  <a:srgbClr val="1F8A7E"/>
                </a:solidFill>
                <a:latin typeface="Calibri" pitchFamily="34" charset="0"/>
                <a:ea typeface="Calibri" pitchFamily="34" charset="-122"/>
                <a:cs typeface="Calibri" pitchFamily="34" charset="-120"/>
              </a:rPr>
              <a:t>my code: hw07/clues + hw06/planner</a:t>
            </a:r>
            <a:endParaRPr lang="en-US" sz="1100" dirty="0"/>
          </a:p>
        </p:txBody>
      </p:sp>
      <p:sp>
        <p:nvSpPr>
          <p:cNvPr id="28" name="Shape 26"/>
          <p:cNvSpPr/>
          <p:nvPr/>
        </p:nvSpPr>
        <p:spPr>
          <a:xfrm>
            <a:off x="457200" y="3246120"/>
            <a:ext cx="8229600" cy="1234440"/>
          </a:xfrm>
          <a:prstGeom prst="roundRect">
            <a:avLst>
              <a:gd name="adj" fmla="val 5926"/>
            </a:avLst>
          </a:prstGeom>
          <a:solidFill>
            <a:srgbClr val="EEF1F4"/>
          </a:solidFill>
          <a:ln w="12700">
            <a:solidFill>
              <a:srgbClr val="EEF1F4"/>
            </a:solidFill>
            <a:prstDash val="solid"/>
          </a:ln>
          <a:effectLst>
            <a:outerShdw blurRad="50800" dist="19050" dir="5400000" algn="bl" rotWithShape="0">
              <a:srgbClr val="000000">
                <a:alpha val="12000"/>
              </a:srgbClr>
            </a:outerShdw>
          </a:effectLst>
        </p:spPr>
      </p:sp>
      <p:sp>
        <p:nvSpPr>
          <p:cNvPr id="29" name="Text 27"/>
          <p:cNvSpPr txBox="1"/>
          <p:nvPr/>
        </p:nvSpPr>
        <p:spPr>
          <a:xfrm>
            <a:off x="685800" y="3429000"/>
            <a:ext cx="7772400" cy="914400"/>
          </a:xfrm>
          <a:prstGeom prst="rect">
            <a:avLst/>
          </a:prstGeom>
          <a:noFill/>
          <a:ln/>
        </p:spPr>
        <p:txBody>
          <a:bodyPr wrap="square" lIns="0" tIns="0" rIns="0" bIns="0" rtlCol="0" anchor="t"/>
          <a:lstStyle/>
          <a:p>
            <a:pPr marL="0" indent="0">
              <a:buNone/>
            </a:pPr>
            <a:r>
              <a:rPr lang="en-US" sz="1400" b="1" dirty="0">
                <a:solidFill>
                  <a:srgbClr val="1B2430"/>
                </a:solidFill>
                <a:latin typeface="Calibri" pitchFamily="34" charset="0"/>
                <a:ea typeface="Calibri" pitchFamily="34" charset="-122"/>
                <a:cs typeface="Calibri" pitchFamily="34" charset="-120"/>
              </a:rPr>
              <a:t>mission/clues → my planner: </a:t>
            </a:r>
            <a:r>
              <a:rPr lang="en-US" sz="1400" dirty="0">
                <a:solidFill>
                  <a:srgbClr val="1B2430"/>
                </a:solidFill>
                <a:latin typeface="Calibri" pitchFamily="34" charset="0"/>
                <a:ea typeface="Calibri" pitchFamily="34" charset="-122"/>
                <a:cs typeface="Calibri" pitchFamily="34" charset="-120"/>
              </a:rPr>
              <a:t>inspect_closer → hover over the clue · converge_search → circle around the centre · ignore / log_only → nothing flies. </a:t>
            </a:r>
            <a:r>
              <a:rPr lang="en-US" sz="1400" b="1" dirty="0">
                <a:solidFill>
                  <a:srgbClr val="1B2430"/>
                </a:solidFill>
                <a:latin typeface="Calibri" pitchFamily="34" charset="0"/>
                <a:ea typeface="Calibri" pitchFamily="34" charset="-122"/>
                <a:cs typeface="Calibri" pitchFamily="34" charset="-120"/>
              </a:rPr>
              <a:t>Every verdict goes on mission/action_result, marked decided_by: ai.</a:t>
            </a:r>
            <a:endParaRPr lang="en-US" sz="1400" dirty="0"/>
          </a:p>
        </p:txBody>
      </p:sp>
      <p:sp>
        <p:nvSpPr>
          <p:cNvPr id="30"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A89"/>
                </a:solidFill>
                <a:latin typeface="Calibri"/>
                <a:ea typeface="Calibri"/>
                <a:cs typeface="Calibr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1B2430"/>
                </a:solidFill>
                <a:latin typeface="Cambria" pitchFamily="34" charset="0"/>
                <a:ea typeface="Cambria" pitchFamily="34" charset="-122"/>
                <a:cs typeface="Cambria" pitchFamily="34" charset="-120"/>
              </a:rPr>
              <a:t>My test set: Ethan, 8, near the north gate</a:t>
            </a:r>
            <a:endParaRPr lang="en-US" sz="2800" dirty="0"/>
          </a:p>
        </p:txBody>
      </p:sp>
      <p:sp>
        <p:nvSpPr>
          <p:cNvPr id="3" name="Text 1"/>
          <p:cNvSpPr txBox="1"/>
          <p:nvPr/>
        </p:nvSpPr>
        <p:spPr>
          <a:xfrm>
            <a:off x="457200" y="1097280"/>
            <a:ext cx="2743200" cy="1463040"/>
          </a:xfrm>
          <a:prstGeom prst="rect">
            <a:avLst/>
          </a:prstGeom>
          <a:noFill/>
          <a:ln/>
        </p:spPr>
        <p:txBody>
          <a:bodyPr wrap="square" lIns="0" tIns="0" rIns="0" bIns="0" rtlCol="0" anchor="t"/>
          <a:lstStyle/>
          <a:p>
            <a:pPr marL="0" indent="0">
              <a:buNone/>
            </a:pPr>
            <a:r>
              <a:rPr lang="en-US" sz="1400" b="1" dirty="0">
                <a:solidFill>
                  <a:srgbClr val="1B2430"/>
                </a:solidFill>
                <a:latin typeface="Calibri" pitchFamily="34" charset="0"/>
                <a:ea typeface="Calibri" pitchFamily="34" charset="-122"/>
                <a:cs typeface="Calibri" pitchFamily="34" charset="-120"/>
              </a:rPr>
              <a:t>Description, written before drawing
</a:t>
            </a:r>
            <a:r>
              <a:rPr lang="en-US" sz="1400" dirty="0">
                <a:solidFill>
                  <a:srgbClr val="2E3A48"/>
                </a:solidFill>
                <a:latin typeface="Calibri" pitchFamily="34" charset="0"/>
                <a:ea typeface="Calibri" pitchFamily="34" charset="-122"/>
                <a:cs typeface="Calibri" pitchFamily="34" charset="-120"/>
              </a:rPr>
              <a:t>Navy cap with a grey front panel, green tee, denim shorts, white sneakers; small orange backpack with a green dinosaur patch.</a:t>
            </a:r>
            <a:endParaRPr lang="en-US" sz="1400" dirty="0"/>
          </a:p>
        </p:txBody>
      </p:sp>
      <p:sp>
        <p:nvSpPr>
          <p:cNvPr id="4" name="Text 2"/>
          <p:cNvSpPr txBox="1"/>
          <p:nvPr/>
        </p:nvSpPr>
        <p:spPr>
          <a:xfrm>
            <a:off x="457200" y="2697480"/>
            <a:ext cx="2743200" cy="1737360"/>
          </a:xfrm>
          <a:prstGeom prst="rect">
            <a:avLst/>
          </a:prstGeom>
          <a:noFill/>
          <a:ln/>
        </p:spPr>
        <p:txBody>
          <a:bodyPr wrap="square" lIns="0" tIns="0" rIns="0" bIns="0" rtlCol="0" anchor="t"/>
          <a:lstStyle/>
          <a:p>
            <a:pPr marL="0" indent="0">
              <a:buNone/>
            </a:pPr>
            <a:r>
              <a:rPr lang="en-US" sz="1400" b="1" dirty="0">
                <a:solidFill>
                  <a:srgbClr val="1B2430"/>
                </a:solidFill>
                <a:latin typeface="Calibri" pitchFamily="34" charset="0"/>
                <a:ea typeface="Calibri" pitchFamily="34" charset="-122"/>
                <a:cs typeface="Calibri" pitchFamily="34" charset="-120"/>
              </a:rPr>
              <a:t>Why each decoy
</a:t>
            </a:r>
            <a:r>
              <a:rPr lang="en-US" sz="1400" dirty="0">
                <a:solidFill>
                  <a:srgbClr val="2E3A48"/>
                </a:solidFill>
                <a:latin typeface="Calibri" pitchFamily="34" charset="0"/>
                <a:ea typeface="Calibri" pitchFamily="34" charset="-122"/>
                <a:cs typeface="Calibri" pitchFamily="34" charset="-120"/>
              </a:rPr>
              <a:t>Beanie: right colour, wrong kind (near miss). Man's shoe: adult size. Doll: a child's toy, not his. Ball: tempting at a stadium.</a:t>
            </a:r>
            <a:endParaRPr lang="en-US" sz="1400" dirty="0"/>
          </a:p>
        </p:txBody>
      </p:sp>
      <p:pic>
        <p:nvPicPr>
          <p:cNvPr id="5" name="Image 0" descr="C:\Users\Yitong\AppData\Local\Temp\claude\--wsl-localhost-Ubuntu-home-yitong-uav-native-ai\5626ac00-b96f-4523-b66d-3cae6d4f4d7e\scratchpad\deck\e01.png"/>
          <p:cNvPicPr>
            <a:picLocks noChangeAspect="1"/>
          </p:cNvPicPr>
          <p:nvPr/>
        </p:nvPicPr>
        <p:blipFill>
          <a:blip r:embed="rId3"/>
          <a:srcRect/>
          <a:stretch/>
        </p:blipFill>
        <p:spPr>
          <a:xfrm>
            <a:off x="3520440" y="1051560"/>
            <a:ext cx="1600200" cy="1371600"/>
          </a:xfrm>
          <a:prstGeom prst="rect">
            <a:avLst/>
          </a:prstGeom>
        </p:spPr>
      </p:pic>
      <p:sp>
        <p:nvSpPr>
          <p:cNvPr id="6" name="Shape 3"/>
          <p:cNvSpPr/>
          <p:nvPr/>
        </p:nvSpPr>
        <p:spPr>
          <a:xfrm>
            <a:off x="3520440" y="2423160"/>
            <a:ext cx="1600200" cy="292608"/>
          </a:xfrm>
          <a:prstGeom prst="rect">
            <a:avLst/>
          </a:prstGeom>
          <a:solidFill>
            <a:srgbClr val="F26B1D"/>
          </a:solidFill>
          <a:ln w="12700">
            <a:solidFill>
              <a:srgbClr val="F26B1D"/>
            </a:solidFill>
            <a:prstDash val="solid"/>
          </a:ln>
        </p:spPr>
      </p:sp>
      <p:sp>
        <p:nvSpPr>
          <p:cNvPr id="7" name="Text 4"/>
          <p:cNvSpPr txBox="1"/>
          <p:nvPr/>
        </p:nvSpPr>
        <p:spPr>
          <a:xfrm>
            <a:off x="3575304" y="2450592"/>
            <a:ext cx="1490472" cy="256032"/>
          </a:xfrm>
          <a:prstGeom prst="rect">
            <a:avLst/>
          </a:prstGeom>
          <a:noFill/>
          <a:ln/>
        </p:spPr>
        <p:txBody>
          <a:bodyPr wrap="square" lIns="0" tIns="0" rIns="0" bIns="0" rtlCol="0" anchor="t"/>
          <a:lstStyle/>
          <a:p>
            <a:pPr marL="0" indent="0">
              <a:buNone/>
            </a:pPr>
            <a:r>
              <a:rPr lang="en-US" sz="1000" b="1" dirty="0">
                <a:solidFill>
                  <a:srgbClr val="FFFFFF"/>
                </a:solidFill>
                <a:latin typeface="Calibri" pitchFamily="34" charset="0"/>
                <a:ea typeface="Calibri" pitchFamily="34" charset="-122"/>
                <a:cs typeface="Calibri" pitchFamily="34" charset="-120"/>
              </a:rPr>
              <a:t>RELEVANT · his cap</a:t>
            </a:r>
            <a:endParaRPr lang="en-US" sz="1000" dirty="0"/>
          </a:p>
        </p:txBody>
      </p:sp>
      <p:pic>
        <p:nvPicPr>
          <p:cNvPr id="8" name="Image 1" descr="C:\Users\Yitong\AppData\Local\Temp\claude\--wsl-localhost-Ubuntu-home-yitong-uav-native-ai\5626ac00-b96f-4523-b66d-3cae6d4f4d7e\scratchpad\deck\e02.png"/>
          <p:cNvPicPr>
            <a:picLocks noChangeAspect="1"/>
          </p:cNvPicPr>
          <p:nvPr/>
        </p:nvPicPr>
        <p:blipFill>
          <a:blip r:embed="rId4"/>
          <a:srcRect/>
          <a:stretch/>
        </p:blipFill>
        <p:spPr>
          <a:xfrm>
            <a:off x="5257800" y="1051560"/>
            <a:ext cx="1600200" cy="1371600"/>
          </a:xfrm>
          <a:prstGeom prst="rect">
            <a:avLst/>
          </a:prstGeom>
        </p:spPr>
      </p:pic>
      <p:sp>
        <p:nvSpPr>
          <p:cNvPr id="9" name="Shape 5"/>
          <p:cNvSpPr/>
          <p:nvPr/>
        </p:nvSpPr>
        <p:spPr>
          <a:xfrm>
            <a:off x="5257800" y="2423160"/>
            <a:ext cx="1600200" cy="292608"/>
          </a:xfrm>
          <a:prstGeom prst="rect">
            <a:avLst/>
          </a:prstGeom>
          <a:solidFill>
            <a:srgbClr val="F26B1D"/>
          </a:solidFill>
          <a:ln w="12700">
            <a:solidFill>
              <a:srgbClr val="F26B1D"/>
            </a:solidFill>
            <a:prstDash val="solid"/>
          </a:ln>
        </p:spPr>
      </p:sp>
      <p:sp>
        <p:nvSpPr>
          <p:cNvPr id="10" name="Text 6"/>
          <p:cNvSpPr txBox="1"/>
          <p:nvPr/>
        </p:nvSpPr>
        <p:spPr>
          <a:xfrm>
            <a:off x="5312664" y="2450592"/>
            <a:ext cx="1490472" cy="256032"/>
          </a:xfrm>
          <a:prstGeom prst="rect">
            <a:avLst/>
          </a:prstGeom>
          <a:noFill/>
          <a:ln/>
        </p:spPr>
        <p:txBody>
          <a:bodyPr wrap="square" lIns="0" tIns="0" rIns="0" bIns="0" rtlCol="0" anchor="t"/>
          <a:lstStyle/>
          <a:p>
            <a:pPr marL="0" indent="0">
              <a:buNone/>
            </a:pPr>
            <a:r>
              <a:rPr lang="en-US" sz="1000" b="1" dirty="0">
                <a:solidFill>
                  <a:srgbClr val="FFFFFF"/>
                </a:solidFill>
                <a:latin typeface="Calibri" pitchFamily="34" charset="0"/>
                <a:ea typeface="Calibri" pitchFamily="34" charset="-122"/>
                <a:cs typeface="Calibri" pitchFamily="34" charset="-120"/>
              </a:rPr>
              <a:t>RELEVANT · his backpack</a:t>
            </a:r>
            <a:endParaRPr lang="en-US" sz="1000" dirty="0"/>
          </a:p>
        </p:txBody>
      </p:sp>
      <p:pic>
        <p:nvPicPr>
          <p:cNvPr id="11" name="Image 2" descr="C:\Users\Yitong\AppData\Local\Temp\claude\--wsl-localhost-Ubuntu-home-yitong-uav-native-ai\5626ac00-b96f-4523-b66d-3cae6d4f4d7e\scratchpad\deck\e03.png"/>
          <p:cNvPicPr>
            <a:picLocks noChangeAspect="1"/>
          </p:cNvPicPr>
          <p:nvPr/>
        </p:nvPicPr>
        <p:blipFill>
          <a:blip r:embed="rId5"/>
          <a:srcRect/>
          <a:stretch/>
        </p:blipFill>
        <p:spPr>
          <a:xfrm>
            <a:off x="6995160" y="1051560"/>
            <a:ext cx="1600200" cy="1371600"/>
          </a:xfrm>
          <a:prstGeom prst="rect">
            <a:avLst/>
          </a:prstGeom>
        </p:spPr>
      </p:pic>
      <p:sp>
        <p:nvSpPr>
          <p:cNvPr id="12" name="Shape 7"/>
          <p:cNvSpPr/>
          <p:nvPr/>
        </p:nvSpPr>
        <p:spPr>
          <a:xfrm>
            <a:off x="6995160" y="2423160"/>
            <a:ext cx="1600200" cy="292608"/>
          </a:xfrm>
          <a:prstGeom prst="rect">
            <a:avLst/>
          </a:prstGeom>
          <a:solidFill>
            <a:srgbClr val="2E3A48"/>
          </a:solidFill>
          <a:ln w="12700">
            <a:solidFill>
              <a:srgbClr val="2E3A48"/>
            </a:solidFill>
            <a:prstDash val="solid"/>
          </a:ln>
        </p:spPr>
      </p:sp>
      <p:sp>
        <p:nvSpPr>
          <p:cNvPr id="13" name="Text 8"/>
          <p:cNvSpPr txBox="1"/>
          <p:nvPr/>
        </p:nvSpPr>
        <p:spPr>
          <a:xfrm>
            <a:off x="7050024" y="2450592"/>
            <a:ext cx="1490472" cy="256032"/>
          </a:xfrm>
          <a:prstGeom prst="rect">
            <a:avLst/>
          </a:prstGeom>
          <a:noFill/>
          <a:ln/>
        </p:spPr>
        <p:txBody>
          <a:bodyPr wrap="square" lIns="0" tIns="0" rIns="0" bIns="0" rtlCol="0" anchor="t"/>
          <a:lstStyle/>
          <a:p>
            <a:pPr marL="0" indent="0">
              <a:buNone/>
            </a:pPr>
            <a:r>
              <a:rPr lang="en-US" sz="1000" b="1" dirty="0">
                <a:solidFill>
                  <a:srgbClr val="FFFFFF"/>
                </a:solidFill>
                <a:latin typeface="Calibri" pitchFamily="34" charset="0"/>
                <a:ea typeface="Calibri" pitchFamily="34" charset="-122"/>
                <a:cs typeface="Calibri" pitchFamily="34" charset="-120"/>
              </a:rPr>
              <a:t>decoy · near miss: beanie</a:t>
            </a:r>
            <a:endParaRPr lang="en-US" sz="1000" dirty="0"/>
          </a:p>
        </p:txBody>
      </p:sp>
      <p:pic>
        <p:nvPicPr>
          <p:cNvPr id="14" name="Image 3" descr="C:\Users\Yitong\AppData\Local\Temp\claude\--wsl-localhost-Ubuntu-home-yitong-uav-native-ai\5626ac00-b96f-4523-b66d-3cae6d4f4d7e\scratchpad\deck\e04.png"/>
          <p:cNvPicPr>
            <a:picLocks noChangeAspect="1"/>
          </p:cNvPicPr>
          <p:nvPr/>
        </p:nvPicPr>
        <p:blipFill>
          <a:blip r:embed="rId6"/>
          <a:srcRect/>
          <a:stretch/>
        </p:blipFill>
        <p:spPr>
          <a:xfrm>
            <a:off x="3520440" y="2926080"/>
            <a:ext cx="1600200" cy="1371600"/>
          </a:xfrm>
          <a:prstGeom prst="rect">
            <a:avLst/>
          </a:prstGeom>
        </p:spPr>
      </p:pic>
      <p:sp>
        <p:nvSpPr>
          <p:cNvPr id="15" name="Shape 9"/>
          <p:cNvSpPr/>
          <p:nvPr/>
        </p:nvSpPr>
        <p:spPr>
          <a:xfrm>
            <a:off x="3520440" y="4297680"/>
            <a:ext cx="1600200" cy="292608"/>
          </a:xfrm>
          <a:prstGeom prst="rect">
            <a:avLst/>
          </a:prstGeom>
          <a:solidFill>
            <a:srgbClr val="2E3A48"/>
          </a:solidFill>
          <a:ln w="12700">
            <a:solidFill>
              <a:srgbClr val="2E3A48"/>
            </a:solidFill>
            <a:prstDash val="solid"/>
          </a:ln>
        </p:spPr>
      </p:sp>
      <p:sp>
        <p:nvSpPr>
          <p:cNvPr id="16" name="Text 10"/>
          <p:cNvSpPr txBox="1"/>
          <p:nvPr/>
        </p:nvSpPr>
        <p:spPr>
          <a:xfrm>
            <a:off x="3575304" y="4325112"/>
            <a:ext cx="1490472" cy="256032"/>
          </a:xfrm>
          <a:prstGeom prst="rect">
            <a:avLst/>
          </a:prstGeom>
          <a:noFill/>
          <a:ln/>
        </p:spPr>
        <p:txBody>
          <a:bodyPr wrap="square" lIns="0" tIns="0" rIns="0" bIns="0" rtlCol="0" anchor="t"/>
          <a:lstStyle/>
          <a:p>
            <a:pPr marL="0" indent="0">
              <a:buNone/>
            </a:pPr>
            <a:r>
              <a:rPr lang="en-US" sz="1000" b="1" dirty="0">
                <a:solidFill>
                  <a:srgbClr val="FFFFFF"/>
                </a:solidFill>
                <a:latin typeface="Calibri" pitchFamily="34" charset="0"/>
                <a:ea typeface="Calibri" pitchFamily="34" charset="-122"/>
                <a:cs typeface="Calibri" pitchFamily="34" charset="-120"/>
              </a:rPr>
              <a:t>decoy · man's shoe</a:t>
            </a:r>
            <a:endParaRPr lang="en-US" sz="1000" dirty="0"/>
          </a:p>
        </p:txBody>
      </p:sp>
      <p:pic>
        <p:nvPicPr>
          <p:cNvPr id="17" name="Image 4" descr="C:\Users\Yitong\AppData\Local\Temp\claude\--wsl-localhost-Ubuntu-home-yitong-uav-native-ai\5626ac00-b96f-4523-b66d-3cae6d4f4d7e\scratchpad\deck\e05.png"/>
          <p:cNvPicPr>
            <a:picLocks noChangeAspect="1"/>
          </p:cNvPicPr>
          <p:nvPr/>
        </p:nvPicPr>
        <p:blipFill>
          <a:blip r:embed="rId7"/>
          <a:srcRect/>
          <a:stretch/>
        </p:blipFill>
        <p:spPr>
          <a:xfrm>
            <a:off x="5257800" y="2926080"/>
            <a:ext cx="1600200" cy="1371600"/>
          </a:xfrm>
          <a:prstGeom prst="rect">
            <a:avLst/>
          </a:prstGeom>
        </p:spPr>
      </p:pic>
      <p:sp>
        <p:nvSpPr>
          <p:cNvPr id="18" name="Shape 11"/>
          <p:cNvSpPr/>
          <p:nvPr/>
        </p:nvSpPr>
        <p:spPr>
          <a:xfrm>
            <a:off x="5257800" y="4297680"/>
            <a:ext cx="1600200" cy="292608"/>
          </a:xfrm>
          <a:prstGeom prst="rect">
            <a:avLst/>
          </a:prstGeom>
          <a:solidFill>
            <a:srgbClr val="2E3A48"/>
          </a:solidFill>
          <a:ln w="12700">
            <a:solidFill>
              <a:srgbClr val="2E3A48"/>
            </a:solidFill>
            <a:prstDash val="solid"/>
          </a:ln>
        </p:spPr>
      </p:sp>
      <p:sp>
        <p:nvSpPr>
          <p:cNvPr id="19" name="Text 12"/>
          <p:cNvSpPr txBox="1"/>
          <p:nvPr/>
        </p:nvSpPr>
        <p:spPr>
          <a:xfrm>
            <a:off x="5312664" y="4325112"/>
            <a:ext cx="1490472" cy="256032"/>
          </a:xfrm>
          <a:prstGeom prst="rect">
            <a:avLst/>
          </a:prstGeom>
          <a:noFill/>
          <a:ln/>
        </p:spPr>
        <p:txBody>
          <a:bodyPr wrap="square" lIns="0" tIns="0" rIns="0" bIns="0" rtlCol="0" anchor="t"/>
          <a:lstStyle/>
          <a:p>
            <a:pPr marL="0" indent="0">
              <a:buNone/>
            </a:pPr>
            <a:r>
              <a:rPr lang="en-US" sz="1000" b="1" dirty="0">
                <a:solidFill>
                  <a:srgbClr val="FFFFFF"/>
                </a:solidFill>
                <a:latin typeface="Calibri" pitchFamily="34" charset="0"/>
                <a:ea typeface="Calibri" pitchFamily="34" charset="-122"/>
                <a:cs typeface="Calibri" pitchFamily="34" charset="-120"/>
              </a:rPr>
              <a:t>decoy · doll</a:t>
            </a:r>
            <a:endParaRPr lang="en-US" sz="1000" dirty="0"/>
          </a:p>
        </p:txBody>
      </p:sp>
      <p:pic>
        <p:nvPicPr>
          <p:cNvPr id="20" name="Image 5" descr="C:\Users\Yitong\AppData\Local\Temp\claude\--wsl-localhost-Ubuntu-home-yitong-uav-native-ai\5626ac00-b96f-4523-b66d-3cae6d4f4d7e\scratchpad\deck\e06.png"/>
          <p:cNvPicPr>
            <a:picLocks noChangeAspect="1"/>
          </p:cNvPicPr>
          <p:nvPr/>
        </p:nvPicPr>
        <p:blipFill>
          <a:blip r:embed="rId8"/>
          <a:srcRect/>
          <a:stretch/>
        </p:blipFill>
        <p:spPr>
          <a:xfrm>
            <a:off x="6995160" y="2926080"/>
            <a:ext cx="1600200" cy="1371600"/>
          </a:xfrm>
          <a:prstGeom prst="rect">
            <a:avLst/>
          </a:prstGeom>
        </p:spPr>
      </p:pic>
      <p:sp>
        <p:nvSpPr>
          <p:cNvPr id="21" name="Shape 13"/>
          <p:cNvSpPr/>
          <p:nvPr/>
        </p:nvSpPr>
        <p:spPr>
          <a:xfrm>
            <a:off x="6995160" y="4297680"/>
            <a:ext cx="1600200" cy="292608"/>
          </a:xfrm>
          <a:prstGeom prst="rect">
            <a:avLst/>
          </a:prstGeom>
          <a:solidFill>
            <a:srgbClr val="2E3A48"/>
          </a:solidFill>
          <a:ln w="12700">
            <a:solidFill>
              <a:srgbClr val="2E3A48"/>
            </a:solidFill>
            <a:prstDash val="solid"/>
          </a:ln>
        </p:spPr>
      </p:sp>
      <p:sp>
        <p:nvSpPr>
          <p:cNvPr id="22" name="Text 14"/>
          <p:cNvSpPr txBox="1"/>
          <p:nvPr/>
        </p:nvSpPr>
        <p:spPr>
          <a:xfrm>
            <a:off x="7050024" y="4325112"/>
            <a:ext cx="1490472" cy="256032"/>
          </a:xfrm>
          <a:prstGeom prst="rect">
            <a:avLst/>
          </a:prstGeom>
          <a:noFill/>
          <a:ln/>
        </p:spPr>
        <p:txBody>
          <a:bodyPr wrap="square" lIns="0" tIns="0" rIns="0" bIns="0" rtlCol="0" anchor="t"/>
          <a:lstStyle/>
          <a:p>
            <a:pPr marL="0" indent="0">
              <a:buNone/>
            </a:pPr>
            <a:r>
              <a:rPr lang="en-US" sz="1000" b="1" dirty="0">
                <a:solidFill>
                  <a:srgbClr val="FFFFFF"/>
                </a:solidFill>
                <a:latin typeface="Calibri" pitchFamily="34" charset="0"/>
                <a:ea typeface="Calibri" pitchFamily="34" charset="-122"/>
                <a:cs typeface="Calibri" pitchFamily="34" charset="-120"/>
              </a:rPr>
              <a:t>decoy · soccer ball</a:t>
            </a:r>
            <a:endParaRPr lang="en-US" sz="1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A89"/>
                </a:solidFill>
                <a:latin typeface="Calibri"/>
                <a:ea typeface="Calibri"/>
                <a:cs typeface="Calibri"/>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1B2430"/>
                </a:solidFill>
                <a:latin typeface="Cambria" pitchFamily="34" charset="0"/>
                <a:ea typeface="Cambria" pitchFamily="34" charset="-122"/>
                <a:cs typeface="Cambria" pitchFamily="34" charset="-120"/>
              </a:rPr>
              <a:t>Offline: every clue right, every run</a:t>
            </a:r>
            <a:endParaRPr lang="en-US" sz="2800" dirty="0"/>
          </a:p>
        </p:txBody>
      </p:sp>
      <p:sp>
        <p:nvSpPr>
          <p:cNvPr id="3" name="Shape 1"/>
          <p:cNvSpPr/>
          <p:nvPr/>
        </p:nvSpPr>
        <p:spPr>
          <a:xfrm>
            <a:off x="457200" y="1143000"/>
            <a:ext cx="1920240" cy="1874520"/>
          </a:xfrm>
          <a:prstGeom prst="roundRect">
            <a:avLst>
              <a:gd name="adj" fmla="val 3902"/>
            </a:avLst>
          </a:prstGeom>
          <a:solidFill>
            <a:srgbClr val="EEF1F4"/>
          </a:solidFill>
          <a:ln w="12700">
            <a:solidFill>
              <a:srgbClr val="EEF1F4"/>
            </a:solidFill>
            <a:prstDash val="solid"/>
          </a:ln>
          <a:effectLst>
            <a:outerShdw blurRad="50800" dist="19050" dir="5400000" algn="bl" rotWithShape="0">
              <a:srgbClr val="000000">
                <a:alpha val="12000"/>
              </a:srgbClr>
            </a:outerShdw>
          </a:effectLst>
        </p:spPr>
      </p:sp>
      <p:sp>
        <p:nvSpPr>
          <p:cNvPr id="4" name="Text 2"/>
          <p:cNvSpPr txBox="1"/>
          <p:nvPr/>
        </p:nvSpPr>
        <p:spPr>
          <a:xfrm>
            <a:off x="457200" y="1280160"/>
            <a:ext cx="1920240" cy="868680"/>
          </a:xfrm>
          <a:prstGeom prst="rect">
            <a:avLst/>
          </a:prstGeom>
          <a:noFill/>
          <a:ln/>
        </p:spPr>
        <p:txBody>
          <a:bodyPr wrap="square" lIns="0" tIns="0" rIns="0" bIns="0" rtlCol="0" anchor="t"/>
          <a:lstStyle/>
          <a:p>
            <a:pPr marL="0" indent="0" algn="ctr">
              <a:buNone/>
            </a:pPr>
            <a:r>
              <a:rPr lang="en-US" sz="4400" b="1" dirty="0">
                <a:solidFill>
                  <a:srgbClr val="F26B1D"/>
                </a:solidFill>
                <a:latin typeface="Cambria" pitchFamily="34" charset="0"/>
                <a:ea typeface="Cambria" pitchFamily="34" charset="-122"/>
                <a:cs typeface="Cambria" pitchFamily="34" charset="-120"/>
              </a:rPr>
              <a:t>15/15</a:t>
            </a:r>
            <a:endParaRPr lang="en-US" sz="4400" dirty="0"/>
          </a:p>
        </p:txBody>
      </p:sp>
      <p:sp>
        <p:nvSpPr>
          <p:cNvPr id="5" name="Text 3"/>
          <p:cNvSpPr txBox="1"/>
          <p:nvPr/>
        </p:nvSpPr>
        <p:spPr>
          <a:xfrm>
            <a:off x="548640" y="2194560"/>
            <a:ext cx="1737360" cy="685800"/>
          </a:xfrm>
          <a:prstGeom prst="rect">
            <a:avLst/>
          </a:prstGeom>
          <a:noFill/>
          <a:ln/>
        </p:spPr>
        <p:txBody>
          <a:bodyPr wrap="square" lIns="0" tIns="0" rIns="0" bIns="0" rtlCol="0" anchor="t"/>
          <a:lstStyle/>
          <a:p>
            <a:pPr marL="0" indent="0" algn="ctr">
              <a:buNone/>
            </a:pPr>
            <a:r>
              <a:rPr lang="en-US" sz="1300" dirty="0">
                <a:solidFill>
                  <a:srgbClr val="2E3A48"/>
                </a:solidFill>
                <a:latin typeface="Calibri" pitchFamily="34" charset="0"/>
                <a:ea typeface="Calibri" pitchFamily="34" charset="-122"/>
                <a:cs typeface="Calibri" pitchFamily="34" charset="-120"/>
              </a:rPr>
              <a:t>Lily's set, 3 repeats</a:t>
            </a:r>
            <a:endParaRPr lang="en-US" sz="1300" dirty="0"/>
          </a:p>
          <a:p>
            <a:pPr marL="0" indent="0" algn="ctr">
              <a:buNone/>
            </a:pPr>
            <a:r>
              <a:rPr lang="en-US" sz="1300" dirty="0">
                <a:solidFill>
                  <a:srgbClr val="2E3A48"/>
                </a:solidFill>
                <a:latin typeface="Calibri" pitchFamily="34" charset="0"/>
                <a:ea typeface="Calibri" pitchFamily="34" charset="-122"/>
                <a:cs typeface="Calibri" pitchFamily="34" charset="-120"/>
              </a:rPr>
              <a:t>relevance and action</a:t>
            </a:r>
            <a:endParaRPr lang="en-US" sz="1300" dirty="0"/>
          </a:p>
        </p:txBody>
      </p:sp>
      <p:sp>
        <p:nvSpPr>
          <p:cNvPr id="6" name="Shape 4"/>
          <p:cNvSpPr/>
          <p:nvPr/>
        </p:nvSpPr>
        <p:spPr>
          <a:xfrm>
            <a:off x="2560320" y="1143000"/>
            <a:ext cx="1920240" cy="1874520"/>
          </a:xfrm>
          <a:prstGeom prst="roundRect">
            <a:avLst>
              <a:gd name="adj" fmla="val 3902"/>
            </a:avLst>
          </a:prstGeom>
          <a:solidFill>
            <a:srgbClr val="EEF1F4"/>
          </a:solidFill>
          <a:ln w="12700">
            <a:solidFill>
              <a:srgbClr val="EEF1F4"/>
            </a:solidFill>
            <a:prstDash val="solid"/>
          </a:ln>
          <a:effectLst>
            <a:outerShdw blurRad="50800" dist="19050" dir="5400000" algn="bl" rotWithShape="0">
              <a:srgbClr val="000000">
                <a:alpha val="12000"/>
              </a:srgbClr>
            </a:outerShdw>
          </a:effectLst>
        </p:spPr>
      </p:sp>
      <p:sp>
        <p:nvSpPr>
          <p:cNvPr id="7" name="Text 5"/>
          <p:cNvSpPr txBox="1"/>
          <p:nvPr/>
        </p:nvSpPr>
        <p:spPr>
          <a:xfrm>
            <a:off x="2560320" y="1280160"/>
            <a:ext cx="1920240" cy="868680"/>
          </a:xfrm>
          <a:prstGeom prst="rect">
            <a:avLst/>
          </a:prstGeom>
          <a:noFill/>
          <a:ln/>
        </p:spPr>
        <p:txBody>
          <a:bodyPr wrap="square" lIns="0" tIns="0" rIns="0" bIns="0" rtlCol="0" anchor="t"/>
          <a:lstStyle/>
          <a:p>
            <a:pPr marL="0" indent="0" algn="ctr">
              <a:buNone/>
            </a:pPr>
            <a:r>
              <a:rPr lang="en-US" sz="4400" b="1" dirty="0">
                <a:solidFill>
                  <a:srgbClr val="1F8A7E"/>
                </a:solidFill>
                <a:latin typeface="Cambria" pitchFamily="34" charset="0"/>
                <a:ea typeface="Cambria" pitchFamily="34" charset="-122"/>
                <a:cs typeface="Cambria" pitchFamily="34" charset="-120"/>
              </a:rPr>
              <a:t>93%</a:t>
            </a:r>
            <a:endParaRPr lang="en-US" sz="4400" dirty="0"/>
          </a:p>
        </p:txBody>
      </p:sp>
      <p:sp>
        <p:nvSpPr>
          <p:cNvPr id="8" name="Text 6"/>
          <p:cNvSpPr txBox="1"/>
          <p:nvPr/>
        </p:nvSpPr>
        <p:spPr>
          <a:xfrm>
            <a:off x="2651760" y="2194560"/>
            <a:ext cx="1737360" cy="685800"/>
          </a:xfrm>
          <a:prstGeom prst="rect">
            <a:avLst/>
          </a:prstGeom>
          <a:noFill/>
          <a:ln/>
        </p:spPr>
        <p:txBody>
          <a:bodyPr wrap="square" lIns="0" tIns="0" rIns="0" bIns="0" rtlCol="0" anchor="t"/>
          <a:lstStyle/>
          <a:p>
            <a:pPr marL="0" indent="0" algn="ctr">
              <a:buNone/>
            </a:pPr>
            <a:r>
              <a:rPr lang="en-US" sz="1300" dirty="0">
                <a:solidFill>
                  <a:srgbClr val="2E3A48"/>
                </a:solidFill>
                <a:latin typeface="Calibri" pitchFamily="34" charset="0"/>
                <a:ea typeface="Calibri" pitchFamily="34" charset="-122"/>
                <a:cs typeface="Calibri" pitchFamily="34" charset="-120"/>
              </a:rPr>
              <a:t>action agreement</a:t>
            </a:r>
            <a:endParaRPr lang="en-US" sz="1300" dirty="0"/>
          </a:p>
          <a:p>
            <a:pPr marL="0" indent="0" algn="ctr">
              <a:buNone/>
            </a:pPr>
            <a:r>
              <a:rPr lang="en-US" sz="1300" dirty="0">
                <a:solidFill>
                  <a:srgbClr val="2E3A48"/>
                </a:solidFill>
                <a:latin typeface="Calibri" pitchFamily="34" charset="0"/>
                <a:ea typeface="Calibri" pitchFamily="34" charset="-122"/>
                <a:cs typeface="Calibri" pitchFamily="34" charset="-120"/>
              </a:rPr>
              <a:t>across repeats</a:t>
            </a:r>
            <a:endParaRPr lang="en-US" sz="1300" dirty="0"/>
          </a:p>
        </p:txBody>
      </p:sp>
      <p:sp>
        <p:nvSpPr>
          <p:cNvPr id="9" name="Shape 7"/>
          <p:cNvSpPr/>
          <p:nvPr/>
        </p:nvSpPr>
        <p:spPr>
          <a:xfrm>
            <a:off x="4663440" y="1143000"/>
            <a:ext cx="1920240" cy="1874520"/>
          </a:xfrm>
          <a:prstGeom prst="roundRect">
            <a:avLst>
              <a:gd name="adj" fmla="val 3902"/>
            </a:avLst>
          </a:prstGeom>
          <a:solidFill>
            <a:srgbClr val="EEF1F4"/>
          </a:solidFill>
          <a:ln w="12700">
            <a:solidFill>
              <a:srgbClr val="EEF1F4"/>
            </a:solidFill>
            <a:prstDash val="solid"/>
          </a:ln>
          <a:effectLst>
            <a:outerShdw blurRad="50800" dist="19050" dir="5400000" algn="bl" rotWithShape="0">
              <a:srgbClr val="000000">
                <a:alpha val="12000"/>
              </a:srgbClr>
            </a:outerShdw>
          </a:effectLst>
        </p:spPr>
      </p:sp>
      <p:sp>
        <p:nvSpPr>
          <p:cNvPr id="10" name="Text 8"/>
          <p:cNvSpPr txBox="1"/>
          <p:nvPr/>
        </p:nvSpPr>
        <p:spPr>
          <a:xfrm>
            <a:off x="4663440" y="1280160"/>
            <a:ext cx="1920240" cy="868680"/>
          </a:xfrm>
          <a:prstGeom prst="rect">
            <a:avLst/>
          </a:prstGeom>
          <a:noFill/>
          <a:ln/>
        </p:spPr>
        <p:txBody>
          <a:bodyPr wrap="square" lIns="0" tIns="0" rIns="0" bIns="0" rtlCol="0" anchor="t"/>
          <a:lstStyle/>
          <a:p>
            <a:pPr marL="0" indent="0" algn="ctr">
              <a:buNone/>
            </a:pPr>
            <a:r>
              <a:rPr lang="en-US" sz="4400" b="1" dirty="0">
                <a:solidFill>
                  <a:srgbClr val="F26B1D"/>
                </a:solidFill>
                <a:latin typeface="Cambria" pitchFamily="34" charset="0"/>
                <a:ea typeface="Cambria" pitchFamily="34" charset="-122"/>
                <a:cs typeface="Cambria" pitchFamily="34" charset="-120"/>
              </a:rPr>
              <a:t>6/6</a:t>
            </a:r>
            <a:endParaRPr lang="en-US" sz="4400" dirty="0"/>
          </a:p>
        </p:txBody>
      </p:sp>
      <p:sp>
        <p:nvSpPr>
          <p:cNvPr id="11" name="Text 9"/>
          <p:cNvSpPr txBox="1"/>
          <p:nvPr/>
        </p:nvSpPr>
        <p:spPr>
          <a:xfrm>
            <a:off x="4754880" y="2194560"/>
            <a:ext cx="1737360" cy="685800"/>
          </a:xfrm>
          <a:prstGeom prst="rect">
            <a:avLst/>
          </a:prstGeom>
          <a:noFill/>
          <a:ln/>
        </p:spPr>
        <p:txBody>
          <a:bodyPr wrap="square" lIns="0" tIns="0" rIns="0" bIns="0" rtlCol="0" anchor="t"/>
          <a:lstStyle/>
          <a:p>
            <a:pPr marL="0" indent="0" algn="ctr">
              <a:buNone/>
            </a:pPr>
            <a:r>
              <a:rPr lang="en-US" sz="1300" dirty="0">
                <a:solidFill>
                  <a:srgbClr val="2E3A48"/>
                </a:solidFill>
                <a:latin typeface="Calibri" pitchFamily="34" charset="0"/>
                <a:ea typeface="Calibri" pitchFamily="34" charset="-122"/>
                <a:cs typeface="Calibri" pitchFamily="34" charset="-120"/>
              </a:rPr>
              <a:t>my set (Ethan)</a:t>
            </a:r>
            <a:endParaRPr lang="en-US" sz="1300" dirty="0"/>
          </a:p>
          <a:p>
            <a:pPr marL="0" indent="0" algn="ctr">
              <a:buNone/>
            </a:pPr>
            <a:r>
              <a:rPr lang="en-US" sz="1300" dirty="0">
                <a:solidFill>
                  <a:srgbClr val="2E3A48"/>
                </a:solidFill>
                <a:latin typeface="Calibri" pitchFamily="34" charset="0"/>
                <a:ea typeface="Calibri" pitchFamily="34" charset="-122"/>
                <a:cs typeface="Calibri" pitchFamily="34" charset="-120"/>
              </a:rPr>
              <a:t>relevance and action</a:t>
            </a:r>
            <a:endParaRPr lang="en-US" sz="1300" dirty="0"/>
          </a:p>
        </p:txBody>
      </p:sp>
      <p:sp>
        <p:nvSpPr>
          <p:cNvPr id="12" name="Shape 10"/>
          <p:cNvSpPr/>
          <p:nvPr/>
        </p:nvSpPr>
        <p:spPr>
          <a:xfrm>
            <a:off x="6766560" y="1143000"/>
            <a:ext cx="1920240" cy="1874520"/>
          </a:xfrm>
          <a:prstGeom prst="roundRect">
            <a:avLst>
              <a:gd name="adj" fmla="val 3902"/>
            </a:avLst>
          </a:prstGeom>
          <a:solidFill>
            <a:srgbClr val="EEF1F4"/>
          </a:solidFill>
          <a:ln w="12700">
            <a:solidFill>
              <a:srgbClr val="EEF1F4"/>
            </a:solidFill>
            <a:prstDash val="solid"/>
          </a:ln>
          <a:effectLst>
            <a:outerShdw blurRad="50800" dist="19050" dir="5400000" algn="bl" rotWithShape="0">
              <a:srgbClr val="000000">
                <a:alpha val="12000"/>
              </a:srgbClr>
            </a:outerShdw>
          </a:effectLst>
        </p:spPr>
      </p:sp>
      <p:sp>
        <p:nvSpPr>
          <p:cNvPr id="13" name="Text 11"/>
          <p:cNvSpPr txBox="1"/>
          <p:nvPr/>
        </p:nvSpPr>
        <p:spPr>
          <a:xfrm>
            <a:off x="6766560" y="1280160"/>
            <a:ext cx="1920240" cy="868680"/>
          </a:xfrm>
          <a:prstGeom prst="rect">
            <a:avLst/>
          </a:prstGeom>
          <a:noFill/>
          <a:ln/>
        </p:spPr>
        <p:txBody>
          <a:bodyPr wrap="square" lIns="0" tIns="0" rIns="0" bIns="0" rtlCol="0" anchor="t"/>
          <a:lstStyle/>
          <a:p>
            <a:pPr marL="0" indent="0" algn="ctr">
              <a:buNone/>
            </a:pPr>
            <a:r>
              <a:rPr lang="en-US" sz="4400" b="1" dirty="0">
                <a:solidFill>
                  <a:srgbClr val="F26B1D"/>
                </a:solidFill>
                <a:latin typeface="Cambria" pitchFamily="34" charset="0"/>
                <a:ea typeface="Cambria" pitchFamily="34" charset="-122"/>
                <a:cs typeface="Cambria" pitchFamily="34" charset="-120"/>
              </a:rPr>
              <a:t>$0.02</a:t>
            </a:r>
            <a:endParaRPr lang="en-US" sz="4400" dirty="0"/>
          </a:p>
        </p:txBody>
      </p:sp>
      <p:sp>
        <p:nvSpPr>
          <p:cNvPr id="14" name="Text 12"/>
          <p:cNvSpPr txBox="1"/>
          <p:nvPr/>
        </p:nvSpPr>
        <p:spPr>
          <a:xfrm>
            <a:off x="6858000" y="2194560"/>
            <a:ext cx="1737360" cy="685800"/>
          </a:xfrm>
          <a:prstGeom prst="rect">
            <a:avLst/>
          </a:prstGeom>
          <a:noFill/>
          <a:ln/>
        </p:spPr>
        <p:txBody>
          <a:bodyPr wrap="square" lIns="0" tIns="0" rIns="0" bIns="0" rtlCol="0" anchor="t"/>
          <a:lstStyle/>
          <a:p>
            <a:pPr marL="0" indent="0" algn="ctr">
              <a:buNone/>
            </a:pPr>
            <a:r>
              <a:rPr lang="en-US" sz="1300" dirty="0">
                <a:solidFill>
                  <a:srgbClr val="2E3A48"/>
                </a:solidFill>
                <a:latin typeface="Calibri" pitchFamily="34" charset="0"/>
                <a:ea typeface="Calibri" pitchFamily="34" charset="-122"/>
                <a:cs typeface="Calibri" pitchFamily="34" charset="-120"/>
              </a:rPr>
              <a:t>per clue, three</a:t>
            </a:r>
            <a:endParaRPr lang="en-US" sz="1300" dirty="0"/>
          </a:p>
          <a:p>
            <a:pPr marL="0" indent="0" algn="ctr">
              <a:buNone/>
            </a:pPr>
            <a:r>
              <a:rPr lang="en-US" sz="1300" dirty="0">
                <a:solidFill>
                  <a:srgbClr val="2E3A48"/>
                </a:solidFill>
                <a:latin typeface="Calibri" pitchFamily="34" charset="0"/>
                <a:ea typeface="Calibri" pitchFamily="34" charset="-122"/>
                <a:cs typeface="Calibri" pitchFamily="34" charset="-120"/>
              </a:rPr>
              <a:t>Claude calls</a:t>
            </a:r>
            <a:endParaRPr lang="en-US" sz="1300" dirty="0"/>
          </a:p>
        </p:txBody>
      </p:sp>
      <p:sp>
        <p:nvSpPr>
          <p:cNvPr id="15" name="Text 13"/>
          <p:cNvSpPr txBox="1"/>
          <p:nvPr/>
        </p:nvSpPr>
        <p:spPr>
          <a:xfrm>
            <a:off x="457200" y="3291840"/>
            <a:ext cx="8229600" cy="1188720"/>
          </a:xfrm>
          <a:prstGeom prst="rect">
            <a:avLst/>
          </a:prstGeom>
          <a:noFill/>
          <a:ln/>
        </p:spPr>
        <p:txBody>
          <a:bodyPr wrap="square" lIns="0" tIns="0" rIns="0" bIns="0" rtlCol="0" anchor="t"/>
          <a:lstStyle/>
          <a:p>
            <a:pPr marL="0" indent="0">
              <a:buNone/>
            </a:pPr>
            <a:r>
              <a:rPr lang="en-US" sz="1500" b="1" dirty="0">
                <a:solidFill>
                  <a:srgbClr val="1B2430"/>
                </a:solidFill>
                <a:latin typeface="Calibri" pitchFamily="34" charset="0"/>
                <a:ea typeface="Calibri" pitchFamily="34" charset="-122"/>
                <a:cs typeface="Calibri" pitchFamily="34" charset="-120"/>
              </a:rPr>
              <a:t>The only disagreement: </a:t>
            </a:r>
            <a:r>
              <a:rPr lang="en-US" sz="1500" dirty="0">
                <a:solidFill>
                  <a:srgbClr val="1B2430"/>
                </a:solidFill>
                <a:latin typeface="Calibri" pitchFamily="34" charset="0"/>
                <a:ea typeface="Calibri" pitchFamily="34" charset="-122"/>
                <a:cs typeface="Calibri" pitchFamily="34" charset="-120"/>
              </a:rPr>
              <a:t>Lily's shoe went log_only, log_only, ignore (both acceptable). Closer looks: 8, all asked for by Describe. Code guard overrides: 0.
</a:t>
            </a:r>
            <a:r>
              <a:rPr lang="en-US" sz="1500" b="1" dirty="0">
                <a:solidFill>
                  <a:srgbClr val="C0392B"/>
                </a:solidFill>
                <a:latin typeface="Calibri" pitchFamily="34" charset="0"/>
                <a:ea typeface="Calibri" pitchFamily="34" charset="-122"/>
                <a:cs typeface="Calibri" pitchFamily="34" charset="-120"/>
              </a:rPr>
              <a:t>But these renders are sharp. </a:t>
            </a:r>
            <a:r>
              <a:rPr lang="en-US" sz="1500" dirty="0">
                <a:solidFill>
                  <a:srgbClr val="C0392B"/>
                </a:solidFill>
                <a:latin typeface="Calibri" pitchFamily="34" charset="0"/>
                <a:ea typeface="Calibri" pitchFamily="34" charset="-122"/>
                <a:cs typeface="Calibri" pitchFamily="34" charset="-120"/>
              </a:rPr>
              <a:t>The GUI camera in flight is not, and that is where it broke.</a:t>
            </a:r>
            <a:endParaRPr lang="en-US" sz="15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A89"/>
                </a:solidFill>
                <a:latin typeface="Calibri"/>
                <a:ea typeface="Calibri"/>
                <a:cs typeface="Calibri"/>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1B2430"/>
                </a:solidFill>
                <a:latin typeface="Cambria" pitchFamily="34" charset="0"/>
                <a:ea typeface="Cambria" pitchFamily="34" charset="-122"/>
                <a:cs typeface="Cambria" pitchFamily="34" charset="-120"/>
              </a:rPr>
              <a:t>Traced failure: Relevance filed Ethan's cap away</a:t>
            </a:r>
            <a:endParaRPr lang="en-US" sz="2800" dirty="0"/>
          </a:p>
        </p:txBody>
      </p:sp>
      <p:pic>
        <p:nvPicPr>
          <p:cNvPr id="3" name="Image 0" descr="C:\Users\Yitong\AppData\Local\Temp\claude\--wsl-localhost-Ubuntu-home-yitong-uav-native-ai\5626ac00-b96f-4523-b66d-3cae6d4f4d7e\scratchpad\deck\e01.png"/>
          <p:cNvPicPr>
            <a:picLocks noChangeAspect="1"/>
          </p:cNvPicPr>
          <p:nvPr/>
        </p:nvPicPr>
        <p:blipFill>
          <a:blip r:embed="rId3"/>
          <a:stretch>
            <a:fillRect/>
          </a:stretch>
        </p:blipFill>
        <p:spPr>
          <a:xfrm>
            <a:off x="457200" y="1051560"/>
            <a:ext cx="1005840" cy="1005840"/>
          </a:xfrm>
          <a:prstGeom prst="rect">
            <a:avLst/>
          </a:prstGeom>
        </p:spPr>
      </p:pic>
      <p:sp>
        <p:nvSpPr>
          <p:cNvPr id="4" name="Text 1"/>
          <p:cNvSpPr txBox="1"/>
          <p:nvPr/>
        </p:nvSpPr>
        <p:spPr>
          <a:xfrm>
            <a:off x="1554480" y="1399032"/>
            <a:ext cx="1188720" cy="320040"/>
          </a:xfrm>
          <a:prstGeom prst="rect">
            <a:avLst/>
          </a:prstGeom>
          <a:noFill/>
          <a:ln/>
        </p:spPr>
        <p:txBody>
          <a:bodyPr wrap="square" lIns="0" tIns="0" rIns="0" bIns="0" rtlCol="0" anchor="t"/>
          <a:lstStyle/>
          <a:p>
            <a:pPr marL="0" indent="0">
              <a:buNone/>
            </a:pPr>
            <a:r>
              <a:rPr lang="en-US" sz="1200" dirty="0">
                <a:solidFill>
                  <a:srgbClr val="2E3A48"/>
                </a:solidFill>
                <a:latin typeface="Calibri" pitchFamily="34" charset="0"/>
                <a:ea typeface="Calibri" pitchFamily="34" charset="-122"/>
                <a:cs typeface="Calibri" pitchFamily="34" charset="-120"/>
              </a:rPr>
              <a:t>offline render</a:t>
            </a:r>
            <a:endParaRPr lang="en-US" sz="1200" dirty="0"/>
          </a:p>
        </p:txBody>
      </p:sp>
      <p:pic>
        <p:nvPicPr>
          <p:cNvPr id="5" name="Image 1" descr="C:\Users\Yitong\AppData\Local\Temp\claude\--wsl-localhost-Ubuntu-home-yitong-uav-native-ai\5626ac00-b96f-4523-b66d-3cae6d4f4d7e\scratchpad\deck\e01-flight.png"/>
          <p:cNvPicPr>
            <a:picLocks noChangeAspect="1"/>
          </p:cNvPicPr>
          <p:nvPr/>
        </p:nvPicPr>
        <p:blipFill>
          <a:blip r:embed="rId4"/>
          <a:stretch>
            <a:fillRect/>
          </a:stretch>
        </p:blipFill>
        <p:spPr>
          <a:xfrm>
            <a:off x="457200" y="2240280"/>
            <a:ext cx="1005840" cy="1005840"/>
          </a:xfrm>
          <a:prstGeom prst="rect">
            <a:avLst/>
          </a:prstGeom>
        </p:spPr>
      </p:pic>
      <p:sp>
        <p:nvSpPr>
          <p:cNvPr id="6" name="Text 2"/>
          <p:cNvSpPr txBox="1"/>
          <p:nvPr/>
        </p:nvSpPr>
        <p:spPr>
          <a:xfrm>
            <a:off x="1554480" y="2587752"/>
            <a:ext cx="1188720" cy="320040"/>
          </a:xfrm>
          <a:prstGeom prst="rect">
            <a:avLst/>
          </a:prstGeom>
          <a:noFill/>
          <a:ln/>
        </p:spPr>
        <p:txBody>
          <a:bodyPr wrap="square" lIns="0" tIns="0" rIns="0" bIns="0" rtlCol="0" anchor="t"/>
          <a:lstStyle/>
          <a:p>
            <a:pPr marL="0" indent="0">
              <a:buNone/>
            </a:pPr>
            <a:r>
              <a:rPr lang="en-US" sz="1200" b="1" dirty="0">
                <a:solidFill>
                  <a:srgbClr val="2E3A48"/>
                </a:solidFill>
                <a:latin typeface="Calibri" pitchFamily="34" charset="0"/>
                <a:ea typeface="Calibri" pitchFamily="34" charset="-122"/>
                <a:cs typeface="Calibri" pitchFamily="34" charset="-120"/>
              </a:rPr>
              <a:t>in flight (GUI)</a:t>
            </a:r>
            <a:endParaRPr lang="en-US" sz="1200" dirty="0"/>
          </a:p>
        </p:txBody>
      </p:sp>
      <p:pic>
        <p:nvPicPr>
          <p:cNvPr id="7" name="Image 2" descr="C:\Users\Yitong\AppData\Local\Temp\claude\--wsl-localhost-Ubuntu-home-yitong-uav-native-ai\5626ac00-b96f-4523-b66d-3cae6d4f4d7e\scratchpad\deck\e01-zoom.png"/>
          <p:cNvPicPr>
            <a:picLocks noChangeAspect="1"/>
          </p:cNvPicPr>
          <p:nvPr/>
        </p:nvPicPr>
        <p:blipFill>
          <a:blip r:embed="rId5"/>
          <a:stretch>
            <a:fillRect/>
          </a:stretch>
        </p:blipFill>
        <p:spPr>
          <a:xfrm>
            <a:off x="457200" y="3429000"/>
            <a:ext cx="1005840" cy="1005840"/>
          </a:xfrm>
          <a:prstGeom prst="rect">
            <a:avLst/>
          </a:prstGeom>
        </p:spPr>
      </p:pic>
      <p:sp>
        <p:nvSpPr>
          <p:cNvPr id="8" name="Text 3"/>
          <p:cNvSpPr txBox="1"/>
          <p:nvPr/>
        </p:nvSpPr>
        <p:spPr>
          <a:xfrm>
            <a:off x="1554480" y="3776472"/>
            <a:ext cx="1188720" cy="320040"/>
          </a:xfrm>
          <a:prstGeom prst="rect">
            <a:avLst/>
          </a:prstGeom>
          <a:noFill/>
          <a:ln/>
        </p:spPr>
        <p:txBody>
          <a:bodyPr wrap="square" lIns="0" tIns="0" rIns="0" bIns="0" rtlCol="0" anchor="t"/>
          <a:lstStyle/>
          <a:p>
            <a:pPr marL="0" indent="0">
              <a:buNone/>
            </a:pPr>
            <a:r>
              <a:rPr lang="en-US" sz="1200" dirty="0">
                <a:solidFill>
                  <a:srgbClr val="2E3A48"/>
                </a:solidFill>
                <a:latin typeface="Calibri" pitchFamily="34" charset="0"/>
                <a:ea typeface="Calibri" pitchFamily="34" charset="-122"/>
                <a:cs typeface="Calibri" pitchFamily="34" charset="-120"/>
              </a:rPr>
              <a:t>closer look 6×</a:t>
            </a:r>
            <a:endParaRPr lang="en-US" sz="1200" dirty="0"/>
          </a:p>
        </p:txBody>
      </p:sp>
      <p:sp>
        <p:nvSpPr>
          <p:cNvPr id="9" name="Shape 4"/>
          <p:cNvSpPr/>
          <p:nvPr/>
        </p:nvSpPr>
        <p:spPr>
          <a:xfrm>
            <a:off x="2880360" y="1051560"/>
            <a:ext cx="2788920" cy="3429000"/>
          </a:xfrm>
          <a:prstGeom prst="roundRect">
            <a:avLst>
              <a:gd name="adj" fmla="val 2623"/>
            </a:avLst>
          </a:prstGeom>
          <a:solidFill>
            <a:srgbClr val="EEF1F4"/>
          </a:solidFill>
          <a:ln w="12700">
            <a:solidFill>
              <a:srgbClr val="EEF1F4"/>
            </a:solidFill>
            <a:prstDash val="solid"/>
          </a:ln>
          <a:effectLst>
            <a:outerShdw blurRad="50800" dist="19050" dir="5400000" algn="bl" rotWithShape="0">
              <a:srgbClr val="000000">
                <a:alpha val="12000"/>
              </a:srgbClr>
            </a:outerShdw>
          </a:effectLst>
        </p:spPr>
      </p:sp>
      <p:sp>
        <p:nvSpPr>
          <p:cNvPr id="10" name="Text 5"/>
          <p:cNvSpPr txBox="1"/>
          <p:nvPr/>
        </p:nvSpPr>
        <p:spPr>
          <a:xfrm>
            <a:off x="3063240" y="1188720"/>
            <a:ext cx="2468880" cy="365760"/>
          </a:xfrm>
          <a:prstGeom prst="rect">
            <a:avLst/>
          </a:prstGeom>
          <a:noFill/>
          <a:ln/>
        </p:spPr>
        <p:txBody>
          <a:bodyPr wrap="square" lIns="0" tIns="0" rIns="0" bIns="0" rtlCol="0" anchor="t"/>
          <a:lstStyle/>
          <a:p>
            <a:pPr marL="0" indent="0">
              <a:buNone/>
            </a:pPr>
            <a:r>
              <a:rPr lang="en-US" sz="1800" b="1" dirty="0">
                <a:solidFill>
                  <a:srgbClr val="C0392B"/>
                </a:solidFill>
                <a:latin typeface="Cambria" pitchFamily="34" charset="0"/>
                <a:ea typeface="Cambria" pitchFamily="34" charset="-122"/>
                <a:cs typeface="Cambria" pitchFamily="34" charset="-120"/>
              </a:rPr>
              <a:t>Before</a:t>
            </a:r>
            <a:endParaRPr lang="en-US" sz="1800" dirty="0"/>
          </a:p>
        </p:txBody>
      </p:sp>
      <p:sp>
        <p:nvSpPr>
          <p:cNvPr id="11" name="Text 6"/>
          <p:cNvSpPr txBox="1"/>
          <p:nvPr/>
        </p:nvSpPr>
        <p:spPr>
          <a:xfrm>
            <a:off x="3063240" y="1645920"/>
            <a:ext cx="2468880" cy="2743200"/>
          </a:xfrm>
          <a:prstGeom prst="rect">
            <a:avLst/>
          </a:prstGeom>
          <a:noFill/>
          <a:ln/>
        </p:spPr>
        <p:txBody>
          <a:bodyPr wrap="square" lIns="0" tIns="0" rIns="0" bIns="0" rtlCol="0" anchor="t"/>
          <a:lstStyle/>
          <a:p>
            <a:pPr marL="0" indent="0">
              <a:spcAft>
                <a:spcPts val="600"/>
              </a:spcAft>
              <a:buNone/>
            </a:pPr>
            <a:r>
              <a:rPr lang="en-US" sz="1400" b="1" dirty="0">
                <a:solidFill>
                  <a:srgbClr val="1B2430"/>
                </a:solidFill>
                <a:latin typeface="Calibri" pitchFamily="34" charset="0"/>
                <a:ea typeface="Calibri" pitchFamily="34" charset="-122"/>
                <a:cs typeface="Calibri" pitchFamily="34" charset="-120"/>
              </a:rPr>
              <a:t>Describe ✓ honest: </a:t>
            </a:r>
            <a:r>
              <a:rPr lang="en-US" sz="1400" dirty="0">
                <a:solidFill>
                  <a:srgbClr val="1B2430"/>
                </a:solidFill>
                <a:latin typeface="Calibri" pitchFamily="34" charset="0"/>
                <a:ea typeface="Calibri" pitchFamily="34" charset="-122"/>
                <a:cs typeface="Calibri" pitchFamily="34" charset="-120"/>
              </a:rPr>
              <a:t>"blurry blue object, white-grey oval", confidence low, needs a closer look
</a:t>
            </a:r>
            <a:r>
              <a:rPr lang="en-US" sz="1400" b="1" dirty="0">
                <a:solidFill>
                  <a:srgbClr val="C0392B"/>
                </a:solidFill>
                <a:latin typeface="Calibri" pitchFamily="34" charset="0"/>
                <a:ea typeface="Calibri" pitchFamily="34" charset="-122"/>
                <a:cs typeface="Calibri" pitchFamily="34" charset="-120"/>
              </a:rPr>
              <a:t>Relevance ✗ first wrong stage: </a:t>
            </a:r>
            <a:r>
              <a:rPr lang="en-US" sz="1400" dirty="0">
                <a:solidFill>
                  <a:srgbClr val="1B2430"/>
                </a:solidFill>
                <a:latin typeface="Calibri" pitchFamily="34" charset="0"/>
                <a:ea typeface="Calibri" pitchFamily="34" charset="-122"/>
                <a:cs typeface="Calibri" pitchFamily="34" charset="-120"/>
              </a:rPr>
              <a:t>picked "blue denim shorts", said low, while its rationale named the cap
</a:t>
            </a:r>
            <a:r>
              <a:rPr lang="en-US" sz="1400" b="1" dirty="0">
                <a:solidFill>
                  <a:srgbClr val="C0392B"/>
                </a:solidFill>
                <a:latin typeface="Calibri" pitchFamily="34" charset="0"/>
                <a:ea typeface="Calibri" pitchFamily="34" charset="-122"/>
                <a:cs typeface="Calibri" pitchFamily="34" charset="-120"/>
              </a:rPr>
              <a:t>→ log_only: his cap ignored</a:t>
            </a:r>
            <a:endParaRPr lang="en-US" sz="1400" dirty="0"/>
          </a:p>
        </p:txBody>
      </p:sp>
      <p:sp>
        <p:nvSpPr>
          <p:cNvPr id="12" name="Shape 7"/>
          <p:cNvSpPr/>
          <p:nvPr/>
        </p:nvSpPr>
        <p:spPr>
          <a:xfrm>
            <a:off x="5897880" y="1051560"/>
            <a:ext cx="2788920" cy="3429000"/>
          </a:xfrm>
          <a:prstGeom prst="roundRect">
            <a:avLst>
              <a:gd name="adj" fmla="val 2623"/>
            </a:avLst>
          </a:prstGeom>
          <a:solidFill>
            <a:srgbClr val="EEF1F4"/>
          </a:solidFill>
          <a:ln w="12700">
            <a:solidFill>
              <a:srgbClr val="EEF1F4"/>
            </a:solidFill>
            <a:prstDash val="solid"/>
          </a:ln>
          <a:effectLst>
            <a:outerShdw blurRad="50800" dist="19050" dir="5400000" algn="bl" rotWithShape="0">
              <a:srgbClr val="000000">
                <a:alpha val="12000"/>
              </a:srgbClr>
            </a:outerShdw>
          </a:effectLst>
        </p:spPr>
      </p:sp>
      <p:sp>
        <p:nvSpPr>
          <p:cNvPr id="13" name="Text 8"/>
          <p:cNvSpPr txBox="1"/>
          <p:nvPr/>
        </p:nvSpPr>
        <p:spPr>
          <a:xfrm>
            <a:off x="6080760" y="1188720"/>
            <a:ext cx="2468880" cy="365760"/>
          </a:xfrm>
          <a:prstGeom prst="rect">
            <a:avLst/>
          </a:prstGeom>
          <a:noFill/>
          <a:ln/>
        </p:spPr>
        <p:txBody>
          <a:bodyPr wrap="square" lIns="0" tIns="0" rIns="0" bIns="0" rtlCol="0" anchor="t"/>
          <a:lstStyle/>
          <a:p>
            <a:pPr marL="0" indent="0">
              <a:buNone/>
            </a:pPr>
            <a:r>
              <a:rPr lang="en-US" sz="1800" b="1" dirty="0">
                <a:solidFill>
                  <a:srgbClr val="1F8A7E"/>
                </a:solidFill>
                <a:latin typeface="Cambria" pitchFamily="34" charset="0"/>
                <a:ea typeface="Cambria" pitchFamily="34" charset="-122"/>
                <a:cs typeface="Cambria" pitchFamily="34" charset="-120"/>
              </a:rPr>
              <a:t>Fix and after</a:t>
            </a:r>
            <a:endParaRPr lang="en-US" sz="1800" dirty="0"/>
          </a:p>
        </p:txBody>
      </p:sp>
      <p:sp>
        <p:nvSpPr>
          <p:cNvPr id="14" name="Text 9"/>
          <p:cNvSpPr txBox="1"/>
          <p:nvPr/>
        </p:nvSpPr>
        <p:spPr>
          <a:xfrm>
            <a:off x="6080760" y="1645920"/>
            <a:ext cx="2468880" cy="2743200"/>
          </a:xfrm>
          <a:prstGeom prst="rect">
            <a:avLst/>
          </a:prstGeom>
          <a:noFill/>
          <a:ln/>
        </p:spPr>
        <p:txBody>
          <a:bodyPr wrap="square" lIns="0" tIns="0" rIns="0" bIns="0" rtlCol="0" anchor="t"/>
          <a:lstStyle/>
          <a:p>
            <a:pPr marL="0" indent="0">
              <a:spcAft>
                <a:spcPts val="600"/>
              </a:spcAft>
              <a:buNone/>
            </a:pPr>
            <a:r>
              <a:rPr lang="en-US" sz="1400" b="1" dirty="0">
                <a:solidFill>
                  <a:srgbClr val="1B2430"/>
                </a:solidFill>
                <a:latin typeface="Calibri" pitchFamily="34" charset="0"/>
                <a:ea typeface="Calibri" pitchFamily="34" charset="-122"/>
                <a:cs typeface="Calibri" pitchFamily="34" charset="-120"/>
              </a:rPr>
              <a:t>Schema: </a:t>
            </a:r>
            <a:r>
              <a:rPr lang="en-US" sz="1400" dirty="0">
                <a:solidFill>
                  <a:srgbClr val="1B2430"/>
                </a:solidFill>
                <a:latin typeface="Calibri" pitchFamily="34" charset="0"/>
                <a:ea typeface="Calibri" pitchFamily="34" charset="-122"/>
                <a:cs typeface="Calibri" pitchFamily="34" charset="-120"/>
              </a:rPr>
              <a:t>possible_items before candidate_item, so it compares before it commits
</a:t>
            </a:r>
            <a:r>
              <a:rPr lang="en-US" sz="1400" b="1" dirty="0">
                <a:solidFill>
                  <a:srgbClr val="1B2430"/>
                </a:solidFill>
                <a:latin typeface="Calibri" pitchFamily="34" charset="0"/>
                <a:ea typeface="Calibri" pitchFamily="34" charset="-122"/>
                <a:cs typeface="Calibri" pitchFamily="34" charset="-120"/>
              </a:rPr>
              <a:t>Prompt: </a:t>
            </a:r>
            <a:r>
              <a:rPr lang="en-US" sz="1400" dirty="0">
                <a:solidFill>
                  <a:srgbClr val="1B2430"/>
                </a:solidFill>
                <a:latin typeface="Calibri" pitchFamily="34" charset="0"/>
                <a:ea typeface="Calibri" pitchFamily="34" charset="-122"/>
                <a:cs typeface="Calibri" pitchFamily="34" charset="-120"/>
              </a:rPr>
              <a:t>unclear but colour, size and outline fit → medium
</a:t>
            </a:r>
            <a:r>
              <a:rPr lang="en-US" sz="1400" b="1" dirty="0">
                <a:solidFill>
                  <a:srgbClr val="1F8A7E"/>
                </a:solidFill>
                <a:latin typeface="Calibri" pitchFamily="34" charset="0"/>
                <a:ea typeface="Calibri" pitchFamily="34" charset="-122"/>
                <a:cs typeface="Calibri" pitchFamily="34" charset="-120"/>
              </a:rPr>
              <a:t>→ inspect_closer → hover
→ zoomed: high → converge</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A89"/>
                </a:solidFill>
                <a:latin typeface="Calibri"/>
                <a:ea typeface="Calibri"/>
                <a:cs typeface="Calibri"/>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smtClean="0">
                <a:solidFill>
                  <a:srgbClr val="FFFFFF"/>
                </a:solidFill>
                <a:latin typeface="Cambria" pitchFamily="34" charset="0"/>
                <a:ea typeface="Cambria" pitchFamily="34" charset="-122"/>
                <a:cs typeface="Cambria" pitchFamily="34" charset="-120"/>
              </a:rPr>
              <a:t>In flight, in new-gui: the fence held</a:t>
            </a:r>
            <a:endParaRPr lang="en-US" sz="2800" dirty="0"/>
          </a:p>
        </p:txBody>
      </p:sp>
      <p:sp>
        <p:nvSpPr>
          <p:cNvPr id="3" name="Shape 1"/>
          <p:cNvSpPr/>
          <p:nvPr/>
        </p:nvSpPr>
        <p:spPr>
          <a:xfrm>
            <a:off x="5740400" y="1066800"/>
            <a:ext cx="2946400" cy="508000"/>
          </a:xfrm>
          <a:prstGeom prst="roundRect">
            <a:avLst>
              <a:gd name="adj" fmla="val 13043"/>
            </a:avLst>
          </a:prstGeom>
          <a:solidFill>
            <a:srgbClr val="2E3A48"/>
          </a:solidFill>
          <a:ln w="12700">
            <a:solidFill>
              <a:srgbClr val="2E3A48"/>
            </a:solidFill>
            <a:prstDash val="solid"/>
          </a:ln>
        </p:spPr>
      </p:sp>
      <p:sp>
        <p:nvSpPr>
          <p:cNvPr id="4" name="Shape 2"/>
          <p:cNvSpPr/>
          <p:nvPr/>
        </p:nvSpPr>
        <p:spPr>
          <a:xfrm>
            <a:off x="5854700" y="1168400"/>
            <a:ext cx="127000" cy="127000"/>
          </a:xfrm>
          <a:prstGeom prst="ellipse">
            <a:avLst/>
          </a:prstGeom>
          <a:solidFill>
            <a:srgbClr val="3CC2B0"/>
          </a:solidFill>
          <a:ln w="12700">
            <a:solidFill>
              <a:srgbClr val="3CC2B0"/>
            </a:solidFill>
            <a:prstDash val="solid"/>
          </a:ln>
        </p:spPr>
      </p:sp>
      <p:sp>
        <p:nvSpPr>
          <p:cNvPr id="5" name="Text 3"/>
          <p:cNvSpPr txBox="1"/>
          <p:nvPr/>
        </p:nvSpPr>
        <p:spPr>
          <a:xfrm>
            <a:off x="6045200" y="1079500"/>
            <a:ext cx="2590800" cy="228600"/>
          </a:xfrm>
          <a:prstGeom prst="rect">
            <a:avLst/>
          </a:prstGeom>
          <a:noFill/>
          <a:ln/>
        </p:spPr>
        <p:txBody>
          <a:bodyPr wrap="none" lIns="0" tIns="25400" rIns="0" bIns="0" rtlCol="0" anchor="t"/>
          <a:lstStyle/>
          <a:p>
            <a:pPr marL="0" indent="0">
              <a:buNone/>
            </a:pPr>
            <a:r>
              <a:rPr lang="en-US" sz="1200" b="1" smtClean="0">
                <a:solidFill>
                  <a:srgbClr val="FFFFFF"/>
                </a:solidFill>
                <a:latin typeface="Calibri" pitchFamily="34" charset="0"/>
                <a:ea typeface="Calibri" pitchFamily="34" charset="-122"/>
                <a:cs typeface="Calibri" pitchFamily="34" charset="-120"/>
              </a:rPr>
              <a:t>Ethan's cap</a:t>
            </a:r>
            <a:endParaRPr lang="en-US" sz="1200" dirty="0"/>
          </a:p>
        </p:txBody>
      </p:sp>
      <p:sp>
        <p:nvSpPr>
          <p:cNvPr id="7" name="Text 5"/>
          <p:cNvSpPr txBox="1"/>
          <p:nvPr/>
        </p:nvSpPr>
        <p:spPr>
          <a:xfrm>
            <a:off x="6045200" y="1308100"/>
            <a:ext cx="2590800" cy="228600"/>
          </a:xfrm>
          <a:prstGeom prst="rect">
            <a:avLst/>
          </a:prstGeom>
          <a:noFill/>
          <a:ln/>
        </p:spPr>
        <p:txBody>
          <a:bodyPr wrap="none" lIns="0" tIns="12700" rIns="0" bIns="0" rtlCol="0" anchor="t"/>
          <a:lstStyle/>
          <a:p>
            <a:pPr marL="0" indent="0">
              <a:buNone/>
            </a:pPr>
            <a:r>
              <a:rPr lang="en-US" sz="1050" smtClean="0">
                <a:solidFill>
                  <a:srgbClr val="AAB5C4"/>
                </a:solidFill>
                <a:latin typeface="Calibri" pitchFamily="34" charset="0"/>
                <a:ea typeface="Calibri" pitchFamily="34" charset="-122"/>
                <a:cs typeface="Calibri" pitchFamily="34" charset="-120"/>
              </a:rPr>
              <a:t>inspect_closer → </a:t>
            </a:r>
            <a:r>
              <a:rPr lang="en-US" sz="1050" b="1" smtClean="0">
                <a:solidFill>
                  <a:srgbClr val="40C9B0"/>
                </a:solidFill>
                <a:latin typeface="Calibri" pitchFamily="34" charset="0"/>
                <a:ea typeface="Calibri" pitchFamily="34" charset="-122"/>
                <a:cs typeface="Calibri" pitchFamily="34" charset="-120"/>
              </a:rPr>
              <a:t>approved: hovered 60 s</a:t>
            </a:r>
            <a:endParaRPr lang="en-US" sz="1050" b="1" dirty="0">
              <a:solidFill>
                <a:srgbClr val="40C9B0"/>
              </a:solidFill>
            </a:endParaRPr>
          </a:p>
        </p:txBody>
      </p:sp>
      <p:sp>
        <p:nvSpPr>
          <p:cNvPr id="8" name="Shape 6"/>
          <p:cNvSpPr/>
          <p:nvPr/>
        </p:nvSpPr>
        <p:spPr>
          <a:xfrm>
            <a:off x="5740400" y="1638300"/>
            <a:ext cx="2946400" cy="508000"/>
          </a:xfrm>
          <a:prstGeom prst="roundRect">
            <a:avLst>
              <a:gd name="adj" fmla="val 13043"/>
            </a:avLst>
          </a:prstGeom>
          <a:solidFill>
            <a:srgbClr val="2E3A48"/>
          </a:solidFill>
          <a:ln w="12700">
            <a:solidFill>
              <a:srgbClr val="2E3A48"/>
            </a:solidFill>
            <a:prstDash val="solid"/>
          </a:ln>
        </p:spPr>
      </p:sp>
      <p:sp>
        <p:nvSpPr>
          <p:cNvPr id="9" name="Shape 7"/>
          <p:cNvSpPr/>
          <p:nvPr/>
        </p:nvSpPr>
        <p:spPr>
          <a:xfrm>
            <a:off x="5854700" y="1739900"/>
            <a:ext cx="127000" cy="127000"/>
          </a:xfrm>
          <a:prstGeom prst="ellipse">
            <a:avLst/>
          </a:prstGeom>
          <a:solidFill>
            <a:srgbClr val="FF7A6B"/>
          </a:solidFill>
          <a:ln w="12700">
            <a:solidFill>
              <a:srgbClr val="FF7A6B"/>
            </a:solidFill>
            <a:prstDash val="solid"/>
          </a:ln>
        </p:spPr>
      </p:sp>
      <p:sp>
        <p:nvSpPr>
          <p:cNvPr id="10" name="Text 8"/>
          <p:cNvSpPr txBox="1"/>
          <p:nvPr/>
        </p:nvSpPr>
        <p:spPr>
          <a:xfrm>
            <a:off x="6045200" y="1651000"/>
            <a:ext cx="2590800" cy="228600"/>
          </a:xfrm>
          <a:prstGeom prst="rect">
            <a:avLst/>
          </a:prstGeom>
          <a:noFill/>
          <a:ln/>
        </p:spPr>
        <p:txBody>
          <a:bodyPr wrap="none" lIns="0" tIns="25400" rIns="0" bIns="0" rtlCol="0" anchor="t"/>
          <a:lstStyle/>
          <a:p>
            <a:pPr marL="0" indent="0">
              <a:buNone/>
            </a:pPr>
            <a:r>
              <a:rPr lang="en-US" sz="1200" b="1" smtClean="0">
                <a:solidFill>
                  <a:srgbClr val="FFFFFF"/>
                </a:solidFill>
                <a:latin typeface="Calibri" pitchFamily="34" charset="0"/>
                <a:ea typeface="Calibri" pitchFamily="34" charset="-122"/>
                <a:cs typeface="Calibri" pitchFamily="34" charset="-120"/>
              </a:rPr>
              <a:t>cap, re-reported ×2</a:t>
            </a:r>
            <a:endParaRPr lang="en-US" sz="1200" dirty="0"/>
          </a:p>
        </p:txBody>
      </p:sp>
      <p:sp>
        <p:nvSpPr>
          <p:cNvPr id="12" name="Text 10"/>
          <p:cNvSpPr txBox="1"/>
          <p:nvPr/>
        </p:nvSpPr>
        <p:spPr>
          <a:xfrm>
            <a:off x="6045200" y="1879600"/>
            <a:ext cx="2590800" cy="228600"/>
          </a:xfrm>
          <a:prstGeom prst="rect">
            <a:avLst/>
          </a:prstGeom>
          <a:noFill/>
          <a:ln/>
        </p:spPr>
        <p:txBody>
          <a:bodyPr wrap="none" lIns="0" tIns="12700" rIns="0" bIns="0" rtlCol="0" anchor="t"/>
          <a:lstStyle/>
          <a:p>
            <a:pPr marL="0" indent="0">
              <a:buNone/>
            </a:pPr>
            <a:r>
              <a:rPr lang="en-US" sz="1050" smtClean="0">
                <a:solidFill>
                  <a:srgbClr val="AAB5C4"/>
                </a:solidFill>
                <a:latin typeface="Calibri" pitchFamily="34" charset="0"/>
                <a:ea typeface="Calibri" pitchFamily="34" charset="-122"/>
                <a:cs typeface="Calibri" pitchFamily="34" charset="-120"/>
              </a:rPr>
              <a:t>inspect_closer → </a:t>
            </a:r>
            <a:r>
              <a:rPr lang="en-US" sz="1050" b="1" smtClean="0">
                <a:solidFill>
                  <a:srgbClr val="FA8072"/>
                </a:solidFill>
                <a:latin typeface="Calibri" pitchFamily="34" charset="0"/>
                <a:ea typeface="Calibri" pitchFamily="34" charset="-122"/>
                <a:cs typeface="Calibri" pitchFamily="34" charset="-120"/>
              </a:rPr>
              <a:t>rejected: busy, same spot</a:t>
            </a:r>
            <a:endParaRPr lang="en-US" sz="1050" b="1" dirty="0">
              <a:solidFill>
                <a:srgbClr val="FA8072"/>
              </a:solidFill>
            </a:endParaRPr>
          </a:p>
        </p:txBody>
      </p:sp>
      <p:sp>
        <p:nvSpPr>
          <p:cNvPr id="13" name="Shape 11"/>
          <p:cNvSpPr/>
          <p:nvPr/>
        </p:nvSpPr>
        <p:spPr>
          <a:xfrm>
            <a:off x="5740400" y="2209800"/>
            <a:ext cx="2946400" cy="508000"/>
          </a:xfrm>
          <a:prstGeom prst="roundRect">
            <a:avLst>
              <a:gd name="adj" fmla="val 13043"/>
            </a:avLst>
          </a:prstGeom>
          <a:solidFill>
            <a:srgbClr val="2E3A48"/>
          </a:solidFill>
          <a:ln w="12700">
            <a:solidFill>
              <a:srgbClr val="2E3A48"/>
            </a:solidFill>
            <a:prstDash val="solid"/>
          </a:ln>
        </p:spPr>
      </p:sp>
      <p:sp>
        <p:nvSpPr>
          <p:cNvPr id="14" name="Shape 12"/>
          <p:cNvSpPr/>
          <p:nvPr/>
        </p:nvSpPr>
        <p:spPr>
          <a:xfrm>
            <a:off x="5854700" y="2311400"/>
            <a:ext cx="127000" cy="127000"/>
          </a:xfrm>
          <a:prstGeom prst="ellipse">
            <a:avLst/>
          </a:prstGeom>
          <a:solidFill>
            <a:srgbClr val="3CC2B0"/>
          </a:solidFill>
          <a:ln w="12700">
            <a:solidFill>
              <a:srgbClr val="3CC2B0"/>
            </a:solidFill>
            <a:prstDash val="solid"/>
          </a:ln>
        </p:spPr>
      </p:sp>
      <p:sp>
        <p:nvSpPr>
          <p:cNvPr id="15" name="Text 13"/>
          <p:cNvSpPr txBox="1"/>
          <p:nvPr/>
        </p:nvSpPr>
        <p:spPr>
          <a:xfrm>
            <a:off x="6045200" y="2222500"/>
            <a:ext cx="2590800" cy="228600"/>
          </a:xfrm>
          <a:prstGeom prst="rect">
            <a:avLst/>
          </a:prstGeom>
          <a:noFill/>
          <a:ln/>
        </p:spPr>
        <p:txBody>
          <a:bodyPr wrap="none" lIns="0" tIns="25400" rIns="0" bIns="0" rtlCol="0" anchor="t"/>
          <a:lstStyle/>
          <a:p>
            <a:pPr marL="0" indent="0">
              <a:buNone/>
            </a:pPr>
            <a:r>
              <a:rPr lang="en-US" sz="1200" b="1" smtClean="0">
                <a:solidFill>
                  <a:srgbClr val="FFFFFF"/>
                </a:solidFill>
                <a:latin typeface="Calibri" pitchFamily="34" charset="0"/>
                <a:ea typeface="Calibri" pitchFamily="34" charset="-122"/>
                <a:cs typeface="Calibri" pitchFamily="34" charset="-120"/>
              </a:rPr>
              <a:t>Ethan's backpack</a:t>
            </a:r>
            <a:endParaRPr lang="en-US" sz="1200" dirty="0"/>
          </a:p>
        </p:txBody>
      </p:sp>
      <p:sp>
        <p:nvSpPr>
          <p:cNvPr id="17" name="Text 15"/>
          <p:cNvSpPr txBox="1"/>
          <p:nvPr/>
        </p:nvSpPr>
        <p:spPr>
          <a:xfrm>
            <a:off x="6045200" y="2451100"/>
            <a:ext cx="2590800" cy="228600"/>
          </a:xfrm>
          <a:prstGeom prst="rect">
            <a:avLst/>
          </a:prstGeom>
          <a:noFill/>
          <a:ln/>
        </p:spPr>
        <p:txBody>
          <a:bodyPr wrap="none" lIns="0" tIns="12700" rIns="0" bIns="0" rtlCol="0" anchor="t"/>
          <a:lstStyle/>
          <a:p>
            <a:pPr marL="0" indent="0">
              <a:buNone/>
            </a:pPr>
            <a:r>
              <a:rPr lang="en-US" sz="1050" smtClean="0">
                <a:solidFill>
                  <a:srgbClr val="AAB5C4"/>
                </a:solidFill>
                <a:latin typeface="Calibri" pitchFamily="34" charset="0"/>
                <a:ea typeface="Calibri" pitchFamily="34" charset="-122"/>
                <a:cs typeface="Calibri" pitchFamily="34" charset="-120"/>
              </a:rPr>
              <a:t>inspect_closer → </a:t>
            </a:r>
            <a:r>
              <a:rPr lang="en-US" sz="1050" b="1" smtClean="0">
                <a:solidFill>
                  <a:srgbClr val="40C9B0"/>
                </a:solidFill>
                <a:latin typeface="Calibri" pitchFamily="34" charset="0"/>
                <a:ea typeface="Calibri" pitchFamily="34" charset="-122"/>
                <a:cs typeface="Calibri" pitchFamily="34" charset="-120"/>
              </a:rPr>
              <a:t>approved: hovered 60 s</a:t>
            </a:r>
            <a:endParaRPr lang="en-US" sz="1050" b="1" dirty="0">
              <a:solidFill>
                <a:srgbClr val="40C9B0"/>
              </a:solidFill>
            </a:endParaRPr>
          </a:p>
        </p:txBody>
      </p:sp>
      <p:sp>
        <p:nvSpPr>
          <p:cNvPr id="18" name="Shape 16"/>
          <p:cNvSpPr/>
          <p:nvPr/>
        </p:nvSpPr>
        <p:spPr>
          <a:xfrm>
            <a:off x="5740400" y="2781300"/>
            <a:ext cx="2946400" cy="508000"/>
          </a:xfrm>
          <a:prstGeom prst="roundRect">
            <a:avLst>
              <a:gd name="adj" fmla="val 13043"/>
            </a:avLst>
          </a:prstGeom>
          <a:solidFill>
            <a:srgbClr val="2E3A48"/>
          </a:solidFill>
          <a:ln w="12700">
            <a:solidFill>
              <a:srgbClr val="2E3A48"/>
            </a:solidFill>
            <a:prstDash val="solid"/>
          </a:ln>
        </p:spPr>
      </p:sp>
      <p:sp>
        <p:nvSpPr>
          <p:cNvPr id="19" name="Shape 17"/>
          <p:cNvSpPr/>
          <p:nvPr/>
        </p:nvSpPr>
        <p:spPr>
          <a:xfrm>
            <a:off x="5854700" y="2882900"/>
            <a:ext cx="127000" cy="127000"/>
          </a:xfrm>
          <a:prstGeom prst="ellipse">
            <a:avLst/>
          </a:prstGeom>
          <a:solidFill>
            <a:srgbClr val="A9B6C3"/>
          </a:solidFill>
          <a:ln w="12700">
            <a:solidFill>
              <a:srgbClr val="A9B6C3"/>
            </a:solidFill>
            <a:prstDash val="solid"/>
          </a:ln>
        </p:spPr>
      </p:sp>
      <p:sp>
        <p:nvSpPr>
          <p:cNvPr id="20" name="Text 18"/>
          <p:cNvSpPr txBox="1"/>
          <p:nvPr/>
        </p:nvSpPr>
        <p:spPr>
          <a:xfrm>
            <a:off x="6045200" y="2794000"/>
            <a:ext cx="2590800" cy="228600"/>
          </a:xfrm>
          <a:prstGeom prst="rect">
            <a:avLst/>
          </a:prstGeom>
          <a:noFill/>
          <a:ln/>
        </p:spPr>
        <p:txBody>
          <a:bodyPr wrap="none" lIns="0" tIns="25400" rIns="0" bIns="0" rtlCol="0" anchor="t"/>
          <a:lstStyle/>
          <a:p>
            <a:pPr marL="0" indent="0">
              <a:buNone/>
            </a:pPr>
            <a:r>
              <a:rPr lang="en-US" sz="1200" b="1" smtClean="0">
                <a:solidFill>
                  <a:srgbClr val="FFFFFF"/>
                </a:solidFill>
                <a:latin typeface="Calibri" pitchFamily="34" charset="0"/>
                <a:ea typeface="Calibri" pitchFamily="34" charset="-122"/>
                <a:cs typeface="Calibri" pitchFamily="34" charset="-120"/>
              </a:rPr>
              <a:t>beanie, ball, shoe, doll</a:t>
            </a:r>
            <a:endParaRPr lang="en-US" sz="1200" dirty="0"/>
          </a:p>
        </p:txBody>
      </p:sp>
      <p:sp>
        <p:nvSpPr>
          <p:cNvPr id="22" name="Text 20"/>
          <p:cNvSpPr txBox="1"/>
          <p:nvPr/>
        </p:nvSpPr>
        <p:spPr>
          <a:xfrm>
            <a:off x="6045200" y="3022600"/>
            <a:ext cx="2590800" cy="228600"/>
          </a:xfrm>
          <a:prstGeom prst="rect">
            <a:avLst/>
          </a:prstGeom>
          <a:noFill/>
          <a:ln/>
        </p:spPr>
        <p:txBody>
          <a:bodyPr wrap="none" lIns="0" tIns="12700" rIns="0" bIns="0" rtlCol="0" anchor="t"/>
          <a:lstStyle/>
          <a:p>
            <a:pPr marL="0" indent="0">
              <a:buNone/>
            </a:pPr>
            <a:r>
              <a:rPr lang="en-US" sz="1050" smtClean="0">
                <a:solidFill>
                  <a:srgbClr val="AAB5C4"/>
                </a:solidFill>
                <a:latin typeface="Calibri" pitchFamily="34" charset="0"/>
                <a:ea typeface="Calibri" pitchFamily="34" charset="-122"/>
                <a:cs typeface="Calibri" pitchFamily="34" charset="-120"/>
              </a:rPr>
              <a:t>log / ignore → </a:t>
            </a:r>
            <a:r>
              <a:rPr lang="en-US" sz="1050" b="1" smtClean="0">
                <a:solidFill>
                  <a:srgbClr val="AAB5C4"/>
                </a:solidFill>
                <a:latin typeface="Calibri" pitchFamily="34" charset="0"/>
                <a:ea typeface="Calibri" pitchFamily="34" charset="-122"/>
                <a:cs typeface="Calibri" pitchFamily="34" charset="-120"/>
              </a:rPr>
              <a:t>nothing flew</a:t>
            </a:r>
            <a:endParaRPr lang="en-US" sz="1050" b="1" dirty="0">
              <a:solidFill>
                <a:srgbClr val="AAB5C4"/>
              </a:solidFill>
            </a:endParaRPr>
          </a:p>
        </p:txBody>
      </p:sp>
      <p:sp>
        <p:nvSpPr>
          <p:cNvPr id="23" name="Shape 21"/>
          <p:cNvSpPr/>
          <p:nvPr/>
        </p:nvSpPr>
        <p:spPr>
          <a:xfrm>
            <a:off x="5740400" y="3352800"/>
            <a:ext cx="2946400" cy="508000"/>
          </a:xfrm>
          <a:prstGeom prst="roundRect">
            <a:avLst>
              <a:gd name="adj" fmla="val 13043"/>
            </a:avLst>
          </a:prstGeom>
          <a:solidFill>
            <a:srgbClr val="2E3A48"/>
          </a:solidFill>
          <a:ln w="12700">
            <a:solidFill>
              <a:srgbClr val="2E3A48"/>
            </a:solidFill>
            <a:prstDash val="solid"/>
          </a:ln>
        </p:spPr>
      </p:sp>
      <p:sp>
        <p:nvSpPr>
          <p:cNvPr id="24" name="Shape 22"/>
          <p:cNvSpPr/>
          <p:nvPr/>
        </p:nvSpPr>
        <p:spPr>
          <a:xfrm>
            <a:off x="5854700" y="3454400"/>
            <a:ext cx="127000" cy="127000"/>
          </a:xfrm>
          <a:prstGeom prst="ellipse">
            <a:avLst/>
          </a:prstGeom>
          <a:solidFill>
            <a:srgbClr val="FF7A6B"/>
          </a:solidFill>
          <a:ln w="12700">
            <a:solidFill>
              <a:srgbClr val="FF7A6B"/>
            </a:solidFill>
            <a:prstDash val="solid"/>
          </a:ln>
        </p:spPr>
      </p:sp>
      <p:sp>
        <p:nvSpPr>
          <p:cNvPr id="25" name="Text 23"/>
          <p:cNvSpPr txBox="1"/>
          <p:nvPr/>
        </p:nvSpPr>
        <p:spPr>
          <a:xfrm>
            <a:off x="6045200" y="3365500"/>
            <a:ext cx="2590800" cy="228600"/>
          </a:xfrm>
          <a:prstGeom prst="rect">
            <a:avLst/>
          </a:prstGeom>
          <a:noFill/>
          <a:ln/>
        </p:spPr>
        <p:txBody>
          <a:bodyPr wrap="none" lIns="0" tIns="25400" rIns="0" bIns="0" rtlCol="0" anchor="t"/>
          <a:lstStyle/>
          <a:p>
            <a:pPr marL="0" indent="0">
              <a:buNone/>
            </a:pPr>
            <a:r>
              <a:rPr lang="en-US" sz="1200" b="1" smtClean="0">
                <a:solidFill>
                  <a:srgbClr val="FFFFFF"/>
                </a:solidFill>
                <a:latin typeface="Calibri" pitchFamily="34" charset="0"/>
                <a:ea typeface="Calibri" pitchFamily="34" charset="-122"/>
                <a:cs typeface="Calibri" pitchFamily="34" charset="-120"/>
              </a:rPr>
              <a:t>2 converges at 26%</a:t>
            </a:r>
            <a:endParaRPr lang="en-US" sz="1200" dirty="0"/>
          </a:p>
        </p:txBody>
      </p:sp>
      <p:sp>
        <p:nvSpPr>
          <p:cNvPr id="27" name="Text 25"/>
          <p:cNvSpPr txBox="1"/>
          <p:nvPr/>
        </p:nvSpPr>
        <p:spPr>
          <a:xfrm>
            <a:off x="6045200" y="3594100"/>
            <a:ext cx="2590800" cy="228600"/>
          </a:xfrm>
          <a:prstGeom prst="rect">
            <a:avLst/>
          </a:prstGeom>
          <a:noFill/>
          <a:ln/>
        </p:spPr>
        <p:txBody>
          <a:bodyPr wrap="none" lIns="0" tIns="12700" rIns="0" bIns="0" rtlCol="0" anchor="t"/>
          <a:lstStyle/>
          <a:p>
            <a:pPr marL="0" indent="0">
              <a:buNone/>
            </a:pPr>
            <a:r>
              <a:rPr lang="en-US" sz="1050" smtClean="0">
                <a:solidFill>
                  <a:srgbClr val="AAB5C4"/>
                </a:solidFill>
                <a:latin typeface="Calibri" pitchFamily="34" charset="0"/>
                <a:ea typeface="Calibri" pitchFamily="34" charset="-122"/>
                <a:cs typeface="Calibri" pitchFamily="34" charset="-120"/>
              </a:rPr>
              <a:t>inject_clue.py → </a:t>
            </a:r>
            <a:r>
              <a:rPr lang="en-US" sz="1050" b="1" smtClean="0">
                <a:solidFill>
                  <a:srgbClr val="FA8072"/>
                </a:solidFill>
                <a:latin typeface="Calibri" pitchFamily="34" charset="0"/>
                <a:ea typeface="Calibri" pitchFamily="34" charset="-122"/>
                <a:cs typeface="Calibri" pitchFamily="34" charset="-120"/>
              </a:rPr>
              <a:t>rejected: reserve</a:t>
            </a:r>
            <a:endParaRPr lang="en-US" sz="1050" b="1" dirty="0">
              <a:solidFill>
                <a:srgbClr val="FA8072"/>
              </a:solidFill>
            </a:endParaRPr>
          </a:p>
        </p:txBody>
      </p:sp>
      <p:sp>
        <p:nvSpPr>
          <p:cNvPr id="28" name="Text 26"/>
          <p:cNvSpPr txBox="1"/>
          <p:nvPr/>
        </p:nvSpPr>
        <p:spPr>
          <a:xfrm>
            <a:off x="457200" y="4394200"/>
            <a:ext cx="8229600" cy="304800"/>
          </a:xfrm>
          <a:prstGeom prst="rect">
            <a:avLst/>
          </a:prstGeom>
          <a:noFill/>
          <a:ln/>
        </p:spPr>
        <p:txBody>
          <a:bodyPr wrap="square" lIns="0" tIns="0" rIns="0" bIns="0" rtlCol="0" anchor="t"/>
          <a:lstStyle/>
          <a:p>
            <a:pPr marL="0" indent="0">
              <a:buNone/>
            </a:pPr>
            <a:r>
              <a:rPr lang="en-US" sz="1400" b="1" smtClean="0">
                <a:solidFill>
                  <a:srgbClr val="F26A21"/>
                </a:solidFill>
                <a:latin typeface="Calibri" pitchFamily="34" charset="0"/>
                <a:ea typeface="Calibri" pitchFamily="34" charset="-122"/>
                <a:cs typeface="Calibri" pitchFamily="34" charset="-120"/>
              </a:rPr>
              <a:t>Never left to the model: </a:t>
            </a:r>
            <a:r>
              <a:rPr lang="en-US" sz="1400" smtClean="0">
                <a:solidFill>
                  <a:srgbClr val="FFFFFF"/>
                </a:solidFill>
                <a:latin typeface="Calibri" pitchFamily="34" charset="0"/>
                <a:ea typeface="Calibri" pitchFamily="34" charset="-122"/>
                <a:cs typeface="Calibri" pitchFamily="34" charset="-120"/>
              </a:rPr>
              <a:t>coordinates, feasibility, a second look, a delivery.</a:t>
            </a:r>
            <a:endParaRPr lang="en-US" sz="1400" dirty="0">
              <a:solidFill>
                <a:srgbClr val="FFFFFF"/>
              </a:solidFill>
            </a:endParaRPr>
          </a:p>
        </p:txBody>
      </p:sp>
      <p:sp>
        <p:nvSpPr>
          <p:cNvPr id="29"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A0B2"/>
                </a:solidFill>
                <a:latin typeface="Calibri"/>
                <a:ea typeface="Calibri"/>
                <a:cs typeface="Calibri"/>
              </a:defRPr>
            </a:lvl1pPr>
          </a:lstStyle>
          <a:p>
            <a:pPr algn="l"/>
            <a:fld id="{F7021451-1387-4CA6-816F-3879F97B5CBC}" type="slidenum">
              <a:rPr lang="en-US" b="0"/>
              <a:t>6</a:t>
            </a:fld>
            <a:endParaRPr lang="en-US"/>
          </a:p>
        </p:txBody>
      </p:sp>
      <p:pic>
        <p:nvPicPr>
          <p:cNvPr id="30" name="GUI screenshot"/>
          <p:cNvPicPr>
            <a:picLocks/>
          </p:cNvPicPr>
          <p:nvPr/>
        </p:nvPicPr>
        <p:blipFill>
          <a:blip r:embed="rId3">
            <a:extLst>
              <a:ext uri="{28A0092B-C50C-407E-A947-70E740481C1C}">
                <a14:useLocalDpi xmlns:a14="http://schemas.microsoft.com/office/drawing/2010/main" val="0"/>
              </a:ext>
            </a:extLst>
          </a:blip>
          <a:stretch>
            <a:fillRect/>
          </a:stretch>
        </p:blipFill>
        <p:spPr>
          <a:xfrm>
            <a:off x="457200" y="1066800"/>
            <a:ext cx="5130800" cy="2900348"/>
          </a:xfrm>
          <a:prstGeom prst="rect">
            <a:avLst/>
          </a:prstGeom>
          <a:ln w="9525">
            <a:solidFill>
              <a:srgbClr val="465263"/>
            </a:solidFill>
          </a:ln>
        </p:spPr>
      </p:pic>
      <p:sp>
        <p:nvSpPr>
          <p:cNvPr id="31" name="camera outline"/>
          <p:cNvSpPr/>
          <p:nvPr/>
        </p:nvSpPr>
        <p:spPr>
          <a:xfrm>
            <a:off x="3407029" y="1097250"/>
            <a:ext cx="1256057" cy="1092388"/>
          </a:xfrm>
          <a:prstGeom prst="roundRect">
            <a:avLst/>
          </a:prstGeom>
          <a:noFill/>
          <a:ln w="25400" cap="flat" cmpd="sng" algn="ctr">
            <a:solidFill>
              <a:srgbClr val="F26A21"/>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drone circle"/>
          <p:cNvSpPr/>
          <p:nvPr/>
        </p:nvSpPr>
        <p:spPr>
          <a:xfrm>
            <a:off x="896047" y="3305995"/>
            <a:ext cx="279400" cy="279400"/>
          </a:xfrm>
          <a:prstGeom prst="ellipse">
            <a:avLst/>
          </a:prstGeom>
          <a:noFill/>
          <a:ln w="25400" cap="flat" cmpd="sng" algn="ctr">
            <a:solidFill>
              <a:srgbClr val="F26A21"/>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caption"/>
          <p:cNvSpPr txBox="1"/>
          <p:nvPr/>
        </p:nvSpPr>
        <p:spPr>
          <a:xfrm>
            <a:off x="457200" y="4005249"/>
            <a:ext cx="5130800" cy="364202"/>
          </a:xfrm>
          <a:prstGeom prst="rect">
            <a:avLst/>
          </a:prstGeom>
          <a:noFill/>
        </p:spPr>
        <p:txBody>
          <a:bodyPr vert="horz" lIns="0" tIns="25400" rtlCol="0">
            <a:spAutoFit/>
          </a:bodyPr>
          <a:lstStyle/>
          <a:p>
            <a:r>
              <a:rPr lang="en-US" sz="950" smtClean="0">
                <a:solidFill>
                  <a:srgbClr val="AAB5C4"/>
                </a:solidFill>
                <a:latin typeface="Calibri" panose="020F0502020204030204" pitchFamily="34" charset="0"/>
              </a:rPr>
              <a:t>Live, 15 Oct: Fuchsia (circled) hovers over Ethan's cap after the AI's inspect_closer was approved; its camera (boxed) shows the cap. bash hw07/run_demo.sh</a:t>
            </a:r>
            <a:endParaRPr lang="en-US" sz="950">
              <a:solidFill>
                <a:srgbClr val="AAB5C4"/>
              </a:solidFill>
              <a:latin typeface="Calibri" panose="020F0502020204030204"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1106</Words>
  <Application>Microsoft Office PowerPoint</Application>
  <PresentationFormat>On-screen Show (16:9)</PresentationFormat>
  <Paragraphs>89</Paragraphs>
  <Slides>6</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HW7: an LLM clue-reasoning pipeline</dc:title>
  <dc:subject>PptxGenJS Presentation</dc:subject>
  <dc:creator>Yitong Luo</dc:creator>
  <cp:lastModifiedBy>Yitong</cp:lastModifiedBy>
  <cp:revision>2</cp:revision>
  <dcterms:created xsi:type="dcterms:W3CDTF">2026-10-15T07:35:21Z</dcterms:created>
  <dcterms:modified xsi:type="dcterms:W3CDTF">2026-10-15T13:06:13Z</dcterms:modified>
</cp:coreProperties>
</file>